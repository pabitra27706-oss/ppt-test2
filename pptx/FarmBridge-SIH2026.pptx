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26822400" cy="15087600"/>
  <p:notesSz cx="15087600" cy="2682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image" Target="../media/image-3-45.png"/><Relationship Id="rId46" Type="http://schemas.openxmlformats.org/officeDocument/2006/relationships/image" Target="../media/image-3-46.png"/><Relationship Id="rId47" Type="http://schemas.openxmlformats.org/officeDocument/2006/relationships/image" Target="../media/image-3-47.png"/><Relationship Id="rId48" Type="http://schemas.openxmlformats.org/officeDocument/2006/relationships/image" Target="../media/image-3-48.png"/><Relationship Id="rId49" Type="http://schemas.openxmlformats.org/officeDocument/2006/relationships/image" Target="../media/image-3-49.png"/><Relationship Id="rId50" Type="http://schemas.openxmlformats.org/officeDocument/2006/relationships/image" Target="../media/image-3-50.png"/><Relationship Id="rId51" Type="http://schemas.openxmlformats.org/officeDocument/2006/relationships/image" Target="../media/image-3-51.png"/><Relationship Id="rId52" Type="http://schemas.openxmlformats.org/officeDocument/2006/relationships/image" Target="../media/image-3-52.png"/><Relationship Id="rId53" Type="http://schemas.openxmlformats.org/officeDocument/2006/relationships/image" Target="../media/image-3-53.png"/><Relationship Id="rId54" Type="http://schemas.openxmlformats.org/officeDocument/2006/relationships/image" Target="../media/image-3-54.png"/><Relationship Id="rId55" Type="http://schemas.openxmlformats.org/officeDocument/2006/relationships/image" Target="../media/image-3-55.png"/><Relationship Id="rId56" Type="http://schemas.openxmlformats.org/officeDocument/2006/relationships/image" Target="../media/image-3-56.png"/><Relationship Id="rId57" Type="http://schemas.openxmlformats.org/officeDocument/2006/relationships/image" Target="../media/image-3-57.png"/><Relationship Id="rId58" Type="http://schemas.openxmlformats.org/officeDocument/2006/relationships/image" Target="../media/image-3-58.png"/><Relationship Id="rId59" Type="http://schemas.openxmlformats.org/officeDocument/2006/relationships/image" Target="../media/image-3-59.png"/><Relationship Id="rId60" Type="http://schemas.openxmlformats.org/officeDocument/2006/relationships/slideLayout" Target="../slideLayouts/slideLayout1.xml"/><Relationship Id="rId6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jpe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jpe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jpe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jpeg"/><Relationship Id="rId41" Type="http://schemas.openxmlformats.org/officeDocument/2006/relationships/image" Target="../media/image-4-41.png"/><Relationship Id="rId42" Type="http://schemas.openxmlformats.org/officeDocument/2006/relationships/image" Target="../media/image-4-42.jpeg"/><Relationship Id="rId43" Type="http://schemas.openxmlformats.org/officeDocument/2006/relationships/image" Target="../media/image-4-43.png"/><Relationship Id="rId44" Type="http://schemas.openxmlformats.org/officeDocument/2006/relationships/image" Target="../media/image-4-44.png"/><Relationship Id="rId45" Type="http://schemas.openxmlformats.org/officeDocument/2006/relationships/image" Target="../media/image-4-45.png"/><Relationship Id="rId46" Type="http://schemas.openxmlformats.org/officeDocument/2006/relationships/slideLayout" Target="../slideLayouts/slideLayout1.xml"/><Relationship Id="rId4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jpe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jpe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jpeg"/><Relationship Id="rId24" Type="http://schemas.openxmlformats.org/officeDocument/2006/relationships/image" Target="../media/image-5-24.png"/><Relationship Id="rId25" Type="http://schemas.openxmlformats.org/officeDocument/2006/relationships/image" Target="../media/image-5-25.jpe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jpeg"/><Relationship Id="rId34" Type="http://schemas.openxmlformats.org/officeDocument/2006/relationships/image" Target="../media/image-5-34.jpeg"/><Relationship Id="rId35" Type="http://schemas.openxmlformats.org/officeDocument/2006/relationships/image" Target="../media/image-5-35.jpeg"/><Relationship Id="rId36" Type="http://schemas.openxmlformats.org/officeDocument/2006/relationships/image" Target="../media/image-5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6822400" cy="1508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0275" y="13487400"/>
            <a:ext cx="828675" cy="8286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355550" y="13668375"/>
            <a:ext cx="3048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880" dirty="0">
                <a:solidFill>
                  <a:srgbClr val="C4DB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80" dirty="0"/>
          </a:p>
        </p:txBody>
      </p:sp>
      <p:sp>
        <p:nvSpPr>
          <p:cNvPr id="5" name="Shape 1"/>
          <p:cNvSpPr/>
          <p:nvPr/>
        </p:nvSpPr>
        <p:spPr>
          <a:xfrm>
            <a:off x="17697450" y="11563350"/>
            <a:ext cx="5600700" cy="1047750"/>
          </a:xfrm>
          <a:prstGeom prst="roundRect">
            <a:avLst>
              <a:gd name="adj" fmla="val 45455"/>
            </a:avLst>
          </a:prstGeom>
          <a:solidFill>
            <a:srgbClr val="22622C"/>
          </a:solidFill>
          <a:ln w="38100">
            <a:solidFill>
              <a:srgbClr val="437D42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6075" y="11801475"/>
            <a:ext cx="590550" cy="581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935700" y="11830050"/>
            <a:ext cx="3952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873" dirty="0">
                <a:solidFill>
                  <a:srgbClr val="B7C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Al-Assisted Matching</a:t>
            </a:r>
            <a:endParaRPr lang="en-US" sz="2873" dirty="0"/>
          </a:p>
        </p:txBody>
      </p:sp>
      <p:sp>
        <p:nvSpPr>
          <p:cNvPr id="8" name="Shape 3"/>
          <p:cNvSpPr/>
          <p:nvPr/>
        </p:nvSpPr>
        <p:spPr>
          <a:xfrm>
            <a:off x="12906375" y="11563350"/>
            <a:ext cx="4171950" cy="1047750"/>
          </a:xfrm>
          <a:prstGeom prst="roundRect">
            <a:avLst>
              <a:gd name="adj" fmla="val 44545"/>
            </a:avLst>
          </a:prstGeom>
          <a:solidFill>
            <a:srgbClr val="22602B"/>
          </a:solidFill>
          <a:ln w="57150">
            <a:solidFill>
              <a:srgbClr val="4E722F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4050" y="11782425"/>
            <a:ext cx="533400" cy="6000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116050" y="11830050"/>
            <a:ext cx="24384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023" dirty="0">
                <a:solidFill>
                  <a:srgbClr val="95B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Build Cost</a:t>
            </a:r>
            <a:endParaRPr lang="en-US" sz="3023" dirty="0"/>
          </a:p>
        </p:txBody>
      </p:sp>
      <p:sp>
        <p:nvSpPr>
          <p:cNvPr id="11" name="Shape 5"/>
          <p:cNvSpPr/>
          <p:nvPr/>
        </p:nvSpPr>
        <p:spPr>
          <a:xfrm>
            <a:off x="7486650" y="11563350"/>
            <a:ext cx="4781550" cy="1047750"/>
          </a:xfrm>
          <a:prstGeom prst="roundRect">
            <a:avLst>
              <a:gd name="adj" fmla="val 46364"/>
            </a:avLst>
          </a:prstGeom>
          <a:solidFill>
            <a:srgbClr val="205B2A"/>
          </a:solidFill>
          <a:ln w="28575">
            <a:solidFill>
              <a:srgbClr val="3F743F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0" y="11839575"/>
            <a:ext cx="600075" cy="523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724900" y="11830050"/>
            <a:ext cx="31337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850" dirty="0">
                <a:solidFill>
                  <a:srgbClr val="9BB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Prices</a:t>
            </a:r>
            <a:endParaRPr lang="en-US" sz="2850" dirty="0"/>
          </a:p>
        </p:txBody>
      </p:sp>
      <p:sp>
        <p:nvSpPr>
          <p:cNvPr id="14" name="Shape 7"/>
          <p:cNvSpPr/>
          <p:nvPr/>
        </p:nvSpPr>
        <p:spPr>
          <a:xfrm>
            <a:off x="847725" y="12592050"/>
            <a:ext cx="4943475" cy="1447800"/>
          </a:xfrm>
          <a:prstGeom prst="rect">
            <a:avLst/>
          </a:prstGeom>
          <a:solidFill>
            <a:srgbClr val="276D2F"/>
          </a:solidFill>
          <a:ln w="9525">
            <a:solidFill>
              <a:srgbClr val="25602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1304925" y="13363575"/>
            <a:ext cx="3495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978" dirty="0">
                <a:solidFill>
                  <a:srgbClr val="9DB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Crore Farmer Loss</a:t>
            </a:r>
            <a:endParaRPr lang="en-US" sz="2978" dirty="0"/>
          </a:p>
        </p:txBody>
      </p:sp>
      <p:sp>
        <p:nvSpPr>
          <p:cNvPr id="16" name="Text 9"/>
          <p:cNvSpPr/>
          <p:nvPr/>
        </p:nvSpPr>
        <p:spPr>
          <a:xfrm>
            <a:off x="1304925" y="12820650"/>
            <a:ext cx="4019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67" dirty="0">
                <a:solidFill>
                  <a:srgbClr val="A9C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₹1.5 Lakh</a:t>
            </a:r>
            <a:endParaRPr lang="en-US" sz="3067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3439775"/>
            <a:ext cx="1781175" cy="106680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0800" y="10658475"/>
            <a:ext cx="6896100" cy="5715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2400" y="4514850"/>
            <a:ext cx="3648075" cy="364807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13477875" y="3219450"/>
            <a:ext cx="5372100" cy="819150"/>
          </a:xfrm>
          <a:prstGeom prst="roundRect">
            <a:avLst>
              <a:gd name="adj" fmla="val 45349"/>
            </a:avLst>
          </a:prstGeom>
          <a:solidFill>
            <a:srgbClr val="225E2E"/>
          </a:solidFill>
          <a:ln w="9525">
            <a:solidFill>
              <a:srgbClr val="4D8456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13877925" y="3352800"/>
            <a:ext cx="4619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790" dirty="0">
                <a:solidFill>
                  <a:srgbClr val="B9D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ID: [YOUR_TEAM_ID]</a:t>
            </a:r>
            <a:endParaRPr lang="en-US" sz="2790" dirty="0"/>
          </a:p>
        </p:txBody>
      </p:sp>
      <p:sp>
        <p:nvSpPr>
          <p:cNvPr id="22" name="Shape 12"/>
          <p:cNvSpPr/>
          <p:nvPr/>
        </p:nvSpPr>
        <p:spPr>
          <a:xfrm>
            <a:off x="7943850" y="3219450"/>
            <a:ext cx="4781550" cy="828675"/>
          </a:xfrm>
          <a:prstGeom prst="roundRect">
            <a:avLst>
              <a:gd name="adj" fmla="val 44828"/>
            </a:avLst>
          </a:prstGeom>
          <a:solidFill>
            <a:srgbClr val="20542C"/>
          </a:solidFill>
          <a:ln w="9525">
            <a:solidFill>
              <a:srgbClr val="4A7B55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8372475" y="3381375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3000" dirty="0">
                <a:solidFill>
                  <a:srgbClr val="9AB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Category: Software</a:t>
            </a:r>
            <a:endParaRPr lang="en-US" sz="30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200" y="1857375"/>
            <a:ext cx="10668000" cy="101917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8677275" y="2066925"/>
            <a:ext cx="9582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75"/>
              </a:lnSpc>
              <a:buNone/>
            </a:pPr>
            <a:r>
              <a:rPr lang="en-US" sz="3435" dirty="0">
                <a:solidFill>
                  <a:srgbClr val="B7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Agriculture, FoodTech &amp; Rural Development</a:t>
            </a:r>
            <a:endParaRPr lang="en-US" sz="3435" dirty="0"/>
          </a:p>
        </p:txBody>
      </p:sp>
      <p:sp>
        <p:nvSpPr>
          <p:cNvPr id="26" name="Text 15"/>
          <p:cNvSpPr/>
          <p:nvPr/>
        </p:nvSpPr>
        <p:spPr>
          <a:xfrm>
            <a:off x="14535150" y="13601700"/>
            <a:ext cx="10067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970" dirty="0">
                <a:solidFill>
                  <a:srgbClr val="C8DD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Sankita • Sujit • Sarmistha • Swastik • Sanku • Nilayjoti</a:t>
            </a:r>
            <a:endParaRPr lang="en-US" sz="2970" dirty="0"/>
          </a:p>
        </p:txBody>
      </p:sp>
      <p:sp>
        <p:nvSpPr>
          <p:cNvPr id="27" name="Text 16"/>
          <p:cNvSpPr/>
          <p:nvPr/>
        </p:nvSpPr>
        <p:spPr>
          <a:xfrm>
            <a:off x="9648825" y="9734550"/>
            <a:ext cx="75723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AAC2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Farmers to Fair Markets</a:t>
            </a:r>
            <a:endParaRPr lang="en-US" sz="3300" dirty="0"/>
          </a:p>
        </p:txBody>
      </p:sp>
      <p:sp>
        <p:nvSpPr>
          <p:cNvPr id="28" name="Text 17"/>
          <p:cNvSpPr/>
          <p:nvPr/>
        </p:nvSpPr>
        <p:spPr>
          <a:xfrm>
            <a:off x="10401300" y="8458200"/>
            <a:ext cx="615315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00"/>
              </a:lnSpc>
              <a:buNone/>
            </a:pPr>
            <a:r>
              <a:rPr lang="en-US" sz="7680" b="1" dirty="0">
                <a:solidFill>
                  <a:srgbClr val="E1E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FarmBridge</a:t>
            </a:r>
            <a:endParaRPr lang="en-US" sz="7680" dirty="0"/>
          </a:p>
        </p:txBody>
      </p:sp>
      <p:sp>
        <p:nvSpPr>
          <p:cNvPr id="29" name="Text 18"/>
          <p:cNvSpPr/>
          <p:nvPr/>
        </p:nvSpPr>
        <p:spPr>
          <a:xfrm>
            <a:off x="7077075" y="781050"/>
            <a:ext cx="127825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5205" dirty="0">
                <a:solidFill>
                  <a:srgbClr val="D1DA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SIH26132</a:t>
            </a:r>
            <a:endParaRPr lang="en-US" sz="520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6822400" cy="1508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0" y="9629775"/>
            <a:ext cx="2133600" cy="304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8600" y="7715250"/>
            <a:ext cx="6819900" cy="6362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9625" y="13087350"/>
            <a:ext cx="523875" cy="533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0100" y="12344400"/>
            <a:ext cx="53340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0" y="11658600"/>
            <a:ext cx="600075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21525" y="10801350"/>
            <a:ext cx="571500" cy="533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1050" y="9953625"/>
            <a:ext cx="561975" cy="5810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21500" y="8296275"/>
            <a:ext cx="1133475" cy="11334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0678775" y="13115925"/>
            <a:ext cx="1962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865" dirty="0">
                <a:solidFill>
                  <a:srgbClr val="5B5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alerts</a:t>
            </a:r>
            <a:endParaRPr lang="en-US" sz="2865" dirty="0"/>
          </a:p>
        </p:txBody>
      </p:sp>
      <p:sp>
        <p:nvSpPr>
          <p:cNvPr id="12" name="Text 1"/>
          <p:cNvSpPr/>
          <p:nvPr/>
        </p:nvSpPr>
        <p:spPr>
          <a:xfrm>
            <a:off x="20659725" y="12344400"/>
            <a:ext cx="33432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865" dirty="0">
                <a:solidFill>
                  <a:srgbClr val="5F6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7/30/90-day trends</a:t>
            </a:r>
            <a:endParaRPr lang="en-US" sz="2865" dirty="0"/>
          </a:p>
        </p:txBody>
      </p:sp>
      <p:sp>
        <p:nvSpPr>
          <p:cNvPr id="13" name="Text 2"/>
          <p:cNvSpPr/>
          <p:nvPr/>
        </p:nvSpPr>
        <p:spPr>
          <a:xfrm>
            <a:off x="20659725" y="11591925"/>
            <a:ext cx="28003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813" dirty="0">
                <a:solidFill>
                  <a:srgbClr val="57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data feed</a:t>
            </a:r>
            <a:endParaRPr lang="en-US" sz="2813" dirty="0"/>
          </a:p>
        </p:txBody>
      </p:sp>
      <p:sp>
        <p:nvSpPr>
          <p:cNvPr id="14" name="Text 3"/>
          <p:cNvSpPr/>
          <p:nvPr/>
        </p:nvSpPr>
        <p:spPr>
          <a:xfrm>
            <a:off x="19840575" y="11725275"/>
            <a:ext cx="5429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27" b="1" dirty="0">
                <a:solidFill>
                  <a:srgbClr val="B6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</a:t>
            </a:r>
            <a:endParaRPr lang="en-US" sz="1327" dirty="0"/>
          </a:p>
        </p:txBody>
      </p:sp>
      <p:sp>
        <p:nvSpPr>
          <p:cNvPr id="15" name="Text 4"/>
          <p:cNvSpPr/>
          <p:nvPr/>
        </p:nvSpPr>
        <p:spPr>
          <a:xfrm>
            <a:off x="20659725" y="10829925"/>
            <a:ext cx="41814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783" dirty="0">
                <a:solidFill>
                  <a:srgbClr val="4B4E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 integration</a:t>
            </a:r>
            <a:endParaRPr lang="en-US" sz="2783" dirty="0"/>
          </a:p>
        </p:txBody>
      </p:sp>
      <p:sp>
        <p:nvSpPr>
          <p:cNvPr id="16" name="Text 5"/>
          <p:cNvSpPr/>
          <p:nvPr/>
        </p:nvSpPr>
        <p:spPr>
          <a:xfrm>
            <a:off x="20669250" y="10039350"/>
            <a:ext cx="500062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75" dirty="0">
                <a:solidFill>
                  <a:srgbClr val="41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Mandi Price Aggregation</a:t>
            </a:r>
            <a:endParaRPr lang="en-US" sz="2775" dirty="0"/>
          </a:p>
        </p:txBody>
      </p:sp>
      <p:sp>
        <p:nvSpPr>
          <p:cNvPr id="17" name="Text 6"/>
          <p:cNvSpPr/>
          <p:nvPr/>
        </p:nvSpPr>
        <p:spPr>
          <a:xfrm>
            <a:off x="20974050" y="8734425"/>
            <a:ext cx="41719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91"/>
              </a:lnSpc>
              <a:buNone/>
            </a:pPr>
            <a:r>
              <a:rPr lang="en-US" sz="2535" dirty="0">
                <a:solidFill>
                  <a:srgbClr val="64A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Intelligence for</a:t>
            </a:r>
            <a:endParaRPr lang="en-US" sz="2535" dirty="0"/>
          </a:p>
          <a:p>
            <a:pPr algn="l" indent="0" marL="0">
              <a:lnSpc>
                <a:spcPts val="2991"/>
              </a:lnSpc>
              <a:buNone/>
            </a:pPr>
            <a:r>
              <a:rPr lang="en-US" sz="2535" dirty="0">
                <a:solidFill>
                  <a:srgbClr val="64A1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BetterDecisions</a:t>
            </a:r>
            <a:endParaRPr lang="en-US" sz="2535" dirty="0"/>
          </a:p>
        </p:txBody>
      </p:sp>
      <p:sp>
        <p:nvSpPr>
          <p:cNvPr id="18" name="Text 7"/>
          <p:cNvSpPr/>
          <p:nvPr/>
        </p:nvSpPr>
        <p:spPr>
          <a:xfrm>
            <a:off x="20983575" y="8201025"/>
            <a:ext cx="3943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5"/>
              </a:lnSpc>
              <a:buNone/>
            </a:pPr>
            <a:r>
              <a:rPr lang="en-US" sz="3383" b="1" dirty="0">
                <a:solidFill>
                  <a:srgbClr val="3F9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DISCOVERY</a:t>
            </a:r>
            <a:endParaRPr lang="en-US" sz="3383" dirty="0"/>
          </a:p>
        </p:txBody>
      </p:sp>
      <p:sp>
        <p:nvSpPr>
          <p:cNvPr id="19" name="Shape 8"/>
          <p:cNvSpPr/>
          <p:nvPr/>
        </p:nvSpPr>
        <p:spPr>
          <a:xfrm>
            <a:off x="19288125" y="1162050"/>
            <a:ext cx="6800850" cy="6019800"/>
          </a:xfrm>
          <a:prstGeom prst="roundRect">
            <a:avLst>
              <a:gd name="adj" fmla="val 6487"/>
            </a:avLst>
          </a:prstGeom>
          <a:solidFill>
            <a:srgbClr val="E5F4E9"/>
          </a:solidFill>
          <a:ln w="47625">
            <a:solidFill>
              <a:srgbClr val="87C592"/>
            </a:solidFill>
            <a:prstDash val="solid"/>
          </a:ln>
        </p:spPr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88200" y="5915025"/>
            <a:ext cx="628650" cy="685800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02475" y="5181600"/>
            <a:ext cx="695325" cy="504825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02475" y="4286250"/>
            <a:ext cx="666750" cy="609600"/>
          </a:xfrm>
          <a:prstGeom prst="rect">
            <a:avLst/>
          </a:prstGeom>
        </p:spPr>
      </p:pic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31050" y="3448050"/>
            <a:ext cx="619125" cy="495300"/>
          </a:xfrm>
          <a:prstGeom prst="rect">
            <a:avLst/>
          </a:prstGeom>
        </p:spPr>
      </p:pic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621500" y="1695450"/>
            <a:ext cx="1133475" cy="1133475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20707350" y="6000750"/>
            <a:ext cx="342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813" dirty="0">
                <a:solidFill>
                  <a:srgbClr val="5F6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transactions</a:t>
            </a:r>
            <a:endParaRPr lang="en-US" sz="2813" dirty="0"/>
          </a:p>
        </p:txBody>
      </p:sp>
      <p:sp>
        <p:nvSpPr>
          <p:cNvPr id="26" name="Text 10"/>
          <p:cNvSpPr/>
          <p:nvPr/>
        </p:nvSpPr>
        <p:spPr>
          <a:xfrm>
            <a:off x="20707350" y="5219700"/>
            <a:ext cx="2971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98" dirty="0">
                <a:solidFill>
                  <a:srgbClr val="4B4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support</a:t>
            </a:r>
            <a:endParaRPr lang="en-US" sz="2798" dirty="0"/>
          </a:p>
        </p:txBody>
      </p:sp>
      <p:sp>
        <p:nvSpPr>
          <p:cNvPr id="27" name="Text 11"/>
          <p:cNvSpPr/>
          <p:nvPr/>
        </p:nvSpPr>
        <p:spPr>
          <a:xfrm>
            <a:off x="20697825" y="4438650"/>
            <a:ext cx="36099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98" dirty="0">
                <a:solidFill>
                  <a:srgbClr val="4F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Al-assisted matching</a:t>
            </a:r>
            <a:endParaRPr lang="en-US" sz="2798" dirty="0"/>
          </a:p>
        </p:txBody>
      </p:sp>
      <p:sp>
        <p:nvSpPr>
          <p:cNvPr id="28" name="Text 12"/>
          <p:cNvSpPr/>
          <p:nvPr/>
        </p:nvSpPr>
        <p:spPr>
          <a:xfrm>
            <a:off x="20707350" y="3295650"/>
            <a:ext cx="47434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038" dirty="0">
                <a:solidFill>
                  <a:srgbClr val="54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Farmer/FPO  Buyer</a:t>
            </a:r>
            <a:endParaRPr lang="en-US" sz="3038" dirty="0"/>
          </a:p>
          <a:p>
            <a:pPr algn="l" indent="0" marL="0">
              <a:lnSpc>
                <a:spcPts val="3584"/>
              </a:lnSpc>
              <a:buNone/>
            </a:pPr>
            <a:r>
              <a:rPr lang="en-US" sz="3038" dirty="0">
                <a:solidFill>
                  <a:srgbClr val="54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3038" dirty="0"/>
          </a:p>
        </p:txBody>
      </p:sp>
      <p:sp>
        <p:nvSpPr>
          <p:cNvPr id="29" name="Text 13"/>
          <p:cNvSpPr/>
          <p:nvPr/>
        </p:nvSpPr>
        <p:spPr>
          <a:xfrm>
            <a:off x="20955000" y="2143125"/>
            <a:ext cx="462915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19"/>
              </a:lnSpc>
              <a:buNone/>
            </a:pPr>
            <a:r>
              <a:rPr lang="en-US" sz="2700" dirty="0">
                <a:solidFill>
                  <a:srgbClr val="69A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Farmers Directly</a:t>
            </a:r>
            <a:endParaRPr lang="en-US" sz="2700" dirty="0"/>
          </a:p>
          <a:p>
            <a:pPr algn="l" indent="0" marL="0">
              <a:lnSpc>
                <a:spcPts val="3319"/>
              </a:lnSpc>
              <a:buNone/>
            </a:pPr>
            <a:r>
              <a:rPr lang="en-US" sz="2700" dirty="0">
                <a:solidFill>
                  <a:srgbClr val="69A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Buyers</a:t>
            </a:r>
            <a:endParaRPr lang="en-US" sz="2700" dirty="0"/>
          </a:p>
        </p:txBody>
      </p:sp>
      <p:sp>
        <p:nvSpPr>
          <p:cNvPr id="30" name="Text 14"/>
          <p:cNvSpPr/>
          <p:nvPr/>
        </p:nvSpPr>
        <p:spPr>
          <a:xfrm>
            <a:off x="20974050" y="1609725"/>
            <a:ext cx="41719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65"/>
              </a:lnSpc>
              <a:buNone/>
            </a:pPr>
            <a:r>
              <a:rPr lang="en-US" sz="3553" b="1" dirty="0">
                <a:solidFill>
                  <a:srgbClr val="46A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LINKAGES</a:t>
            </a:r>
            <a:endParaRPr lang="en-US" sz="3553" dirty="0"/>
          </a:p>
        </p:txBody>
      </p:sp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54875" y="6972300"/>
            <a:ext cx="904875" cy="828675"/>
          </a:xfrm>
          <a:prstGeom prst="rect">
            <a:avLst/>
          </a:prstGeom>
        </p:spPr>
      </p:pic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2025" y="12106275"/>
            <a:ext cx="17716500" cy="1971675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3343275" y="12515850"/>
            <a:ext cx="130397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26"/>
              </a:lnSpc>
              <a:buNone/>
            </a:pPr>
            <a:r>
              <a:rPr lang="en-US" sz="3113" dirty="0">
                <a:solidFill>
                  <a:srgbClr val="444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FarmBridge is a zero-cost digital mandi that connects farmers directly</a:t>
            </a:r>
            <a:endParaRPr lang="en-US" sz="3113" dirty="0"/>
          </a:p>
          <a:p>
            <a:pPr algn="ctr" indent="0" marL="0">
              <a:lnSpc>
                <a:spcPts val="4026"/>
              </a:lnSpc>
              <a:buNone/>
            </a:pPr>
            <a:r>
              <a:rPr lang="en-US" sz="3113" dirty="0">
                <a:solidFill>
                  <a:srgbClr val="444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buyers and provides real-time price intelligence.</a:t>
            </a:r>
            <a:endParaRPr lang="en-US" sz="3113" dirty="0"/>
          </a:p>
        </p:txBody>
      </p:sp>
      <p:sp>
        <p:nvSpPr>
          <p:cNvPr id="34" name="Shape 16"/>
          <p:cNvSpPr/>
          <p:nvPr/>
        </p:nvSpPr>
        <p:spPr>
          <a:xfrm>
            <a:off x="971550" y="8982075"/>
            <a:ext cx="10906125" cy="1428750"/>
          </a:xfrm>
          <a:prstGeom prst="roundRect">
            <a:avLst>
              <a:gd name="adj" fmla="val 23333"/>
            </a:avLst>
          </a:prstGeom>
          <a:solidFill>
            <a:srgbClr val="F9EBEC"/>
          </a:solidFill>
          <a:ln w="57150">
            <a:solidFill>
              <a:srgbClr val="E2676B"/>
            </a:solidFill>
            <a:prstDash val="solid"/>
          </a:ln>
        </p:spPr>
      </p:sp>
      <p:sp>
        <p:nvSpPr>
          <p:cNvPr id="35" name="Text 17"/>
          <p:cNvSpPr/>
          <p:nvPr/>
        </p:nvSpPr>
        <p:spPr>
          <a:xfrm>
            <a:off x="1800225" y="9363075"/>
            <a:ext cx="935355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870" b="1" dirty="0">
                <a:solidFill>
                  <a:srgbClr val="E34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gets only 40-60% of final price</a:t>
            </a:r>
            <a:endParaRPr lang="en-US" sz="3870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563600" y="6286500"/>
            <a:ext cx="476250" cy="257175"/>
          </a:xfrm>
          <a:prstGeom prst="rect">
            <a:avLst/>
          </a:prstGeom>
        </p:spPr>
      </p:pic>
      <p:sp>
        <p:nvSpPr>
          <p:cNvPr id="37" name="Shape 18"/>
          <p:cNvSpPr/>
          <p:nvPr/>
        </p:nvSpPr>
        <p:spPr>
          <a:xfrm>
            <a:off x="14097000" y="5295900"/>
            <a:ext cx="2066925" cy="2762250"/>
          </a:xfrm>
          <a:prstGeom prst="roundRect">
            <a:avLst>
              <a:gd name="adj" fmla="val 11982"/>
            </a:avLst>
          </a:prstGeom>
          <a:solidFill>
            <a:srgbClr val="F9E7E8"/>
          </a:solidFill>
          <a:ln w="9525">
            <a:solidFill>
              <a:srgbClr val="E4AFB1"/>
            </a:solidFill>
            <a:prstDash val="solid"/>
          </a:ln>
        </p:spPr>
      </p:sp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363700" y="5629275"/>
            <a:ext cx="1552575" cy="1552575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14344650" y="7267575"/>
            <a:ext cx="16097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2115" b="1" dirty="0">
                <a:solidFill>
                  <a:srgbClr val="D24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2115" dirty="0"/>
          </a:p>
        </p:txBody>
      </p:sp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44225" y="6286500"/>
            <a:ext cx="466725" cy="257175"/>
          </a:xfrm>
          <a:prstGeom prst="rect">
            <a:avLst/>
          </a:prstGeom>
        </p:spPr>
      </p:pic>
      <p:sp>
        <p:nvSpPr>
          <p:cNvPr id="41" name="Shape 20"/>
          <p:cNvSpPr/>
          <p:nvPr/>
        </p:nvSpPr>
        <p:spPr>
          <a:xfrm>
            <a:off x="11468100" y="5295900"/>
            <a:ext cx="2076450" cy="2762250"/>
          </a:xfrm>
          <a:prstGeom prst="roundRect">
            <a:avLst>
              <a:gd name="adj" fmla="val 11927"/>
            </a:avLst>
          </a:prstGeom>
          <a:solidFill>
            <a:srgbClr val="F8E7E7"/>
          </a:solidFill>
          <a:ln w="9525">
            <a:solidFill>
              <a:srgbClr val="E9B5B7"/>
            </a:solidFill>
            <a:prstDash val="solid"/>
          </a:ln>
        </p:spPr>
      </p:sp>
      <p:pic>
        <p:nvPicPr>
          <p:cNvPr id="4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10975" y="5562600"/>
            <a:ext cx="1800225" cy="1619250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11544300" y="7305675"/>
            <a:ext cx="195262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153" b="1" dirty="0">
                <a:solidFill>
                  <a:srgbClr val="CF4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</a:t>
            </a:r>
            <a:pPr algn="ctr" indent="0" marL="0">
              <a:lnSpc>
                <a:spcPts val="2475"/>
              </a:lnSpc>
              <a:buNone/>
            </a:pPr>
            <a:endParaRPr lang="en-US" sz="1770" dirty="0"/>
          </a:p>
          <a:p>
            <a:pPr algn="ctr" indent="0" marL="0">
              <a:lnSpc>
                <a:spcPts val="2475"/>
              </a:lnSpc>
              <a:buNone/>
            </a:pPr>
            <a:r>
              <a:rPr lang="en-US" sz="1770" dirty="0">
                <a:solidFill>
                  <a:srgbClr val="B6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(20-30% markup)</a:t>
            </a:r>
            <a:endParaRPr lang="en-US" sz="1770" dirty="0"/>
          </a:p>
        </p:txBody>
      </p:sp>
      <p:pic>
        <p:nvPicPr>
          <p:cNvPr id="4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24850" y="6286500"/>
            <a:ext cx="476250" cy="257175"/>
          </a:xfrm>
          <a:prstGeom prst="rect">
            <a:avLst/>
          </a:prstGeom>
        </p:spPr>
      </p:pic>
      <p:sp>
        <p:nvSpPr>
          <p:cNvPr id="45" name="Shape 22"/>
          <p:cNvSpPr/>
          <p:nvPr/>
        </p:nvSpPr>
        <p:spPr>
          <a:xfrm>
            <a:off x="8839200" y="5295900"/>
            <a:ext cx="2095500" cy="2762250"/>
          </a:xfrm>
          <a:prstGeom prst="roundRect">
            <a:avLst>
              <a:gd name="adj" fmla="val 13636"/>
            </a:avLst>
          </a:prstGeom>
          <a:solidFill>
            <a:srgbClr val="F8E7E9"/>
          </a:solidFill>
          <a:ln w="9525">
            <a:solidFill>
              <a:srgbClr val="E7B9B9"/>
            </a:solidFill>
            <a:prstDash val="solid"/>
          </a:ln>
        </p:spPr>
      </p:sp>
      <p:pic>
        <p:nvPicPr>
          <p:cNvPr id="4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77300" y="5505450"/>
            <a:ext cx="2019300" cy="1714500"/>
          </a:xfrm>
          <a:prstGeom prst="rect">
            <a:avLst/>
          </a:prstGeom>
        </p:spPr>
      </p:pic>
      <p:sp>
        <p:nvSpPr>
          <p:cNvPr id="47" name="Text 23"/>
          <p:cNvSpPr/>
          <p:nvPr/>
        </p:nvSpPr>
        <p:spPr>
          <a:xfrm>
            <a:off x="9248775" y="7639050"/>
            <a:ext cx="1304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792" dirty="0">
                <a:solidFill>
                  <a:srgbClr val="BD6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(5-10% cut)</a:t>
            </a:r>
            <a:endParaRPr lang="en-US" sz="1792" dirty="0"/>
          </a:p>
        </p:txBody>
      </p:sp>
      <p:sp>
        <p:nvSpPr>
          <p:cNvPr id="48" name="Text 24"/>
          <p:cNvSpPr/>
          <p:nvPr/>
        </p:nvSpPr>
        <p:spPr>
          <a:xfrm>
            <a:off x="9210675" y="7305675"/>
            <a:ext cx="1362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2176" b="1" dirty="0">
                <a:solidFill>
                  <a:srgbClr val="C93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ARHATIYA</a:t>
            </a:r>
            <a:endParaRPr lang="en-US" sz="2176" dirty="0"/>
          </a:p>
        </p:txBody>
      </p:sp>
      <p:pic>
        <p:nvPicPr>
          <p:cNvPr id="4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86425" y="6286500"/>
            <a:ext cx="485775" cy="266700"/>
          </a:xfrm>
          <a:prstGeom prst="rect">
            <a:avLst/>
          </a:prstGeom>
        </p:spPr>
      </p:pic>
      <p:sp>
        <p:nvSpPr>
          <p:cNvPr id="50" name="Shape 25"/>
          <p:cNvSpPr/>
          <p:nvPr/>
        </p:nvSpPr>
        <p:spPr>
          <a:xfrm>
            <a:off x="6219825" y="5295900"/>
            <a:ext cx="2076450" cy="2762250"/>
          </a:xfrm>
          <a:prstGeom prst="roundRect">
            <a:avLst>
              <a:gd name="adj" fmla="val 11927"/>
            </a:avLst>
          </a:prstGeom>
          <a:solidFill>
            <a:srgbClr val="F9E7E8"/>
          </a:solidFill>
          <a:ln w="9525">
            <a:solidFill>
              <a:srgbClr val="E7B9BB"/>
            </a:solidFill>
            <a:prstDash val="solid"/>
          </a:ln>
        </p:spPr>
      </p:sp>
      <p:pic>
        <p:nvPicPr>
          <p:cNvPr id="5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62700" y="5676900"/>
            <a:ext cx="1800225" cy="1514475"/>
          </a:xfrm>
          <a:prstGeom prst="rect">
            <a:avLst/>
          </a:prstGeom>
        </p:spPr>
      </p:pic>
      <p:sp>
        <p:nvSpPr>
          <p:cNvPr id="52" name="Text 26"/>
          <p:cNvSpPr/>
          <p:nvPr/>
        </p:nvSpPr>
        <p:spPr>
          <a:xfrm>
            <a:off x="6334125" y="7305675"/>
            <a:ext cx="185737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15" b="1" dirty="0">
                <a:solidFill>
                  <a:srgbClr val="CE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WHOLESALER</a:t>
            </a:r>
            <a:pPr algn="ctr" indent="0" marL="0">
              <a:lnSpc>
                <a:spcPts val="2700"/>
              </a:lnSpc>
              <a:buNone/>
            </a:pPr>
            <a:endParaRPr lang="en-US" sz="1808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sz="1808" dirty="0">
                <a:solidFill>
                  <a:srgbClr val="B95F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(10-15% cut)</a:t>
            </a:r>
            <a:endParaRPr lang="en-US" sz="1808" dirty="0"/>
          </a:p>
        </p:txBody>
      </p:sp>
      <p:pic>
        <p:nvPicPr>
          <p:cNvPr id="5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57525" y="6286500"/>
            <a:ext cx="476250" cy="257175"/>
          </a:xfrm>
          <a:prstGeom prst="rect">
            <a:avLst/>
          </a:prstGeom>
        </p:spPr>
      </p:pic>
      <p:sp>
        <p:nvSpPr>
          <p:cNvPr id="54" name="Shape 27"/>
          <p:cNvSpPr/>
          <p:nvPr/>
        </p:nvSpPr>
        <p:spPr>
          <a:xfrm>
            <a:off x="3590925" y="5295900"/>
            <a:ext cx="2076450" cy="2762250"/>
          </a:xfrm>
          <a:prstGeom prst="roundRect">
            <a:avLst>
              <a:gd name="adj" fmla="val 11468"/>
            </a:avLst>
          </a:prstGeom>
          <a:solidFill>
            <a:srgbClr val="F9E8E8"/>
          </a:solidFill>
          <a:ln w="9525">
            <a:solidFill>
              <a:srgbClr val="E4B0B1"/>
            </a:solidFill>
            <a:prstDash val="solid"/>
          </a:ln>
        </p:spPr>
      </p:sp>
      <p:pic>
        <p:nvPicPr>
          <p:cNvPr id="5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09975" y="5581650"/>
            <a:ext cx="2038350" cy="1600200"/>
          </a:xfrm>
          <a:prstGeom prst="rect">
            <a:avLst/>
          </a:prstGeom>
        </p:spPr>
      </p:pic>
      <p:sp>
        <p:nvSpPr>
          <p:cNvPr id="56" name="Text 28"/>
          <p:cNvSpPr/>
          <p:nvPr/>
        </p:nvSpPr>
        <p:spPr>
          <a:xfrm>
            <a:off x="3686175" y="7305675"/>
            <a:ext cx="18859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085" b="1" dirty="0">
                <a:solidFill>
                  <a:srgbClr val="CD4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AGENT</a:t>
            </a:r>
            <a:pPr algn="ctr" indent="0" marL="0">
              <a:lnSpc>
                <a:spcPts val="2475"/>
              </a:lnSpc>
              <a:buNone/>
            </a:pPr>
            <a:endParaRPr lang="en-US" sz="1785" dirty="0"/>
          </a:p>
          <a:p>
            <a:pPr algn="ctr" indent="0" marL="0">
              <a:lnSpc>
                <a:spcPts val="2475"/>
              </a:lnSpc>
              <a:buNone/>
            </a:pPr>
            <a:r>
              <a:rPr lang="en-US" sz="1785" dirty="0">
                <a:solidFill>
                  <a:srgbClr val="C3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(15-20% cut)</a:t>
            </a:r>
            <a:endParaRPr lang="en-US" sz="1785" dirty="0"/>
          </a:p>
        </p:txBody>
      </p:sp>
      <p:sp>
        <p:nvSpPr>
          <p:cNvPr id="57" name="Shape 29"/>
          <p:cNvSpPr/>
          <p:nvPr/>
        </p:nvSpPr>
        <p:spPr>
          <a:xfrm>
            <a:off x="971550" y="5295900"/>
            <a:ext cx="2066925" cy="2762250"/>
          </a:xfrm>
          <a:prstGeom prst="roundRect">
            <a:avLst>
              <a:gd name="adj" fmla="val 13364"/>
            </a:avLst>
          </a:prstGeom>
          <a:solidFill>
            <a:srgbClr val="F9E7E8"/>
          </a:solidFill>
          <a:ln w="9525">
            <a:solidFill>
              <a:srgbClr val="ECC1C2"/>
            </a:solidFill>
            <a:prstDash val="solid"/>
          </a:ln>
        </p:spPr>
      </p:sp>
      <p:pic>
        <p:nvPicPr>
          <p:cNvPr id="5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81125" y="5562600"/>
            <a:ext cx="1504950" cy="1619250"/>
          </a:xfrm>
          <a:prstGeom prst="rect">
            <a:avLst/>
          </a:prstGeom>
        </p:spPr>
      </p:pic>
      <p:sp>
        <p:nvSpPr>
          <p:cNvPr id="59" name="Text 30"/>
          <p:cNvSpPr/>
          <p:nvPr/>
        </p:nvSpPr>
        <p:spPr>
          <a:xfrm>
            <a:off x="1447800" y="7296150"/>
            <a:ext cx="11239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2230" b="1" dirty="0">
                <a:solidFill>
                  <a:srgbClr val="CD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</a:t>
            </a:r>
            <a:endParaRPr lang="en-US" sz="2230" dirty="0"/>
          </a:p>
        </p:txBody>
      </p:sp>
      <p:pic>
        <p:nvPicPr>
          <p:cNvPr id="6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09650" y="4219575"/>
            <a:ext cx="657225" cy="638175"/>
          </a:xfrm>
          <a:prstGeom prst="rect">
            <a:avLst/>
          </a:prstGeom>
        </p:spPr>
      </p:pic>
      <p:sp>
        <p:nvSpPr>
          <p:cNvPr id="61" name="Text 31"/>
          <p:cNvSpPr/>
          <p:nvPr/>
        </p:nvSpPr>
        <p:spPr>
          <a:xfrm>
            <a:off x="990600" y="10658475"/>
            <a:ext cx="107823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54"/>
              </a:lnSpc>
              <a:buNone/>
            </a:pPr>
            <a:r>
              <a:rPr lang="en-US" sz="2835" dirty="0">
                <a:solidFill>
                  <a:srgbClr val="D15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Intermediaries capture the majority of the value</a:t>
            </a:r>
            <a:endParaRPr lang="en-US" sz="2835" dirty="0"/>
          </a:p>
          <a:p>
            <a:pPr algn="l" indent="0" marL="0">
              <a:lnSpc>
                <a:spcPts val="3654"/>
              </a:lnSpc>
              <a:buNone/>
            </a:pPr>
            <a:r>
              <a:rPr lang="en-US" sz="2835" dirty="0">
                <a:solidFill>
                  <a:srgbClr val="D15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fragmented supply chains and information asymmetry.</a:t>
            </a:r>
            <a:endParaRPr lang="en-US" sz="2835" dirty="0"/>
          </a:p>
        </p:txBody>
      </p:sp>
      <p:sp>
        <p:nvSpPr>
          <p:cNvPr id="62" name="Text 32"/>
          <p:cNvSpPr/>
          <p:nvPr/>
        </p:nvSpPr>
        <p:spPr>
          <a:xfrm>
            <a:off x="1838325" y="4267200"/>
            <a:ext cx="80676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3255" b="1" dirty="0">
                <a:solidFill>
                  <a:srgbClr val="E03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CHAIN: FARMER → CONSUMER</a:t>
            </a:r>
            <a:endParaRPr lang="en-US" sz="3255" dirty="0"/>
          </a:p>
        </p:txBody>
      </p:sp>
      <p:sp>
        <p:nvSpPr>
          <p:cNvPr id="63" name="Text 33"/>
          <p:cNvSpPr/>
          <p:nvPr/>
        </p:nvSpPr>
        <p:spPr>
          <a:xfrm>
            <a:off x="990600" y="3000375"/>
            <a:ext cx="127349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578" dirty="0">
                <a:solidFill>
                  <a:srgbClr val="DD4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Lose 40-60% of Their Earnings to Intermediaries</a:t>
            </a:r>
            <a:endParaRPr lang="en-US" sz="3578" dirty="0"/>
          </a:p>
        </p:txBody>
      </p:sp>
      <p:sp>
        <p:nvSpPr>
          <p:cNvPr id="64" name="Text 34"/>
          <p:cNvSpPr/>
          <p:nvPr/>
        </p:nvSpPr>
        <p:spPr>
          <a:xfrm>
            <a:off x="942975" y="657225"/>
            <a:ext cx="7781925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66"/>
              </a:lnSpc>
              <a:buNone/>
            </a:pPr>
            <a:r>
              <a:rPr lang="en-US" sz="7268" b="1" dirty="0">
                <a:solidFill>
                  <a:srgbClr val="EE2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₹1.5Lakh</a:t>
            </a:r>
            <a:endParaRPr lang="en-US" sz="7268" dirty="0"/>
          </a:p>
          <a:p>
            <a:pPr algn="l" indent="0" marL="0">
              <a:lnSpc>
                <a:spcPts val="8866"/>
              </a:lnSpc>
              <a:buNone/>
            </a:pPr>
            <a:r>
              <a:rPr lang="en-US" sz="7268" b="1" dirty="0">
                <a:solidFill>
                  <a:srgbClr val="EE2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Crore Problem</a:t>
            </a:r>
            <a:endParaRPr lang="en-US" sz="726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822400" cy="15087600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7450" y="13820775"/>
            <a:ext cx="1047750" cy="7334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059650" y="2724150"/>
            <a:ext cx="5457825" cy="9315450"/>
          </a:xfrm>
          <a:prstGeom prst="roundRect">
            <a:avLst>
              <a:gd name="adj" fmla="val 1571"/>
            </a:avLst>
          </a:prstGeom>
          <a:solidFill>
            <a:srgbClr val="F7F7F7"/>
          </a:solidFill>
          <a:ln w="9525">
            <a:solidFill>
              <a:srgbClr val="C9D1C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403050" y="11525250"/>
            <a:ext cx="638175" cy="295275"/>
          </a:xfrm>
          <a:prstGeom prst="roundRect">
            <a:avLst>
              <a:gd name="adj" fmla="val 18548"/>
            </a:avLst>
          </a:prstGeom>
          <a:solidFill>
            <a:srgbClr val="559360"/>
          </a:solidFill>
          <a:ln w="9525">
            <a:solidFill>
              <a:srgbClr val="55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4498300" y="11553825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27" dirty="0">
                <a:solidFill>
                  <a:srgbClr val="A7C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2.2x</a:t>
            </a:r>
            <a:endParaRPr lang="en-US" sz="1327" dirty="0"/>
          </a:p>
        </p:txBody>
      </p:sp>
      <p:sp>
        <p:nvSpPr>
          <p:cNvPr id="7" name="Shape 4"/>
          <p:cNvSpPr/>
          <p:nvPr/>
        </p:nvSpPr>
        <p:spPr>
          <a:xfrm>
            <a:off x="24412575" y="11125200"/>
            <a:ext cx="619125" cy="295275"/>
          </a:xfrm>
          <a:prstGeom prst="roundRect">
            <a:avLst>
              <a:gd name="adj" fmla="val 18548"/>
            </a:avLst>
          </a:prstGeom>
          <a:solidFill>
            <a:srgbClr val="57935F"/>
          </a:solidFill>
          <a:ln w="9525">
            <a:solidFill>
              <a:srgbClr val="4584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517350" y="11153775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98" dirty="0">
                <a:solidFill>
                  <a:srgbClr val="A8C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1.5x</a:t>
            </a:r>
            <a:endParaRPr lang="en-US" sz="1298" dirty="0"/>
          </a:p>
        </p:txBody>
      </p:sp>
      <p:sp>
        <p:nvSpPr>
          <p:cNvPr id="9" name="Shape 6"/>
          <p:cNvSpPr/>
          <p:nvPr/>
        </p:nvSpPr>
        <p:spPr>
          <a:xfrm>
            <a:off x="24498300" y="10715625"/>
            <a:ext cx="523875" cy="295275"/>
          </a:xfrm>
          <a:prstGeom prst="roundRect">
            <a:avLst>
              <a:gd name="adj" fmla="val 15323"/>
            </a:avLst>
          </a:prstGeom>
          <a:solidFill>
            <a:srgbClr val="539060"/>
          </a:solidFill>
          <a:ln w="9525">
            <a:solidFill>
              <a:srgbClr val="4285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31650" y="10753725"/>
            <a:ext cx="295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77" dirty="0">
                <a:solidFill>
                  <a:srgbClr val="A7C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1177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9675" y="10287000"/>
            <a:ext cx="5067300" cy="2857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4507825" y="9820275"/>
            <a:ext cx="504825" cy="295275"/>
          </a:xfrm>
          <a:prstGeom prst="roundRect">
            <a:avLst>
              <a:gd name="adj" fmla="val 16935"/>
            </a:avLst>
          </a:prstGeom>
          <a:solidFill>
            <a:srgbClr val="549360"/>
          </a:solidFill>
          <a:ln w="9525">
            <a:solidFill>
              <a:srgbClr val="35794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641175" y="9858375"/>
            <a:ext cx="276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1597" dirty="0">
                <a:solidFill>
                  <a:srgbClr val="A1C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1.x</a:t>
            </a:r>
            <a:endParaRPr lang="en-US" sz="1597" dirty="0"/>
          </a:p>
        </p:txBody>
      </p:sp>
      <p:sp>
        <p:nvSpPr>
          <p:cNvPr id="14" name="Shape 10"/>
          <p:cNvSpPr/>
          <p:nvPr/>
        </p:nvSpPr>
        <p:spPr>
          <a:xfrm>
            <a:off x="24469725" y="9391650"/>
            <a:ext cx="552450" cy="304800"/>
          </a:xfrm>
          <a:prstGeom prst="roundRect">
            <a:avLst>
              <a:gd name="adj" fmla="val 17969"/>
            </a:avLst>
          </a:prstGeom>
          <a:solidFill>
            <a:srgbClr val="518E5C"/>
          </a:solidFill>
          <a:ln w="9525">
            <a:solidFill>
              <a:srgbClr val="42824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574500" y="9429750"/>
            <a:ext cx="361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90" dirty="0">
                <a:solidFill>
                  <a:srgbClr val="ADC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29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8725" y="8972550"/>
            <a:ext cx="5038725" cy="190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4498300" y="8458200"/>
            <a:ext cx="523875" cy="304800"/>
          </a:xfrm>
          <a:prstGeom prst="roundRect">
            <a:avLst>
              <a:gd name="adj" fmla="val 17188"/>
            </a:avLst>
          </a:prstGeom>
          <a:solidFill>
            <a:srgbClr val="56915E"/>
          </a:solidFill>
          <a:ln w="9525">
            <a:solidFill>
              <a:srgbClr val="4E855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4631650" y="8496300"/>
            <a:ext cx="295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83" dirty="0">
                <a:solidFill>
                  <a:srgbClr val="AAC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9x</a:t>
            </a:r>
            <a:endParaRPr lang="en-US" sz="1283" dirty="0"/>
          </a:p>
        </p:txBody>
      </p:sp>
      <p:sp>
        <p:nvSpPr>
          <p:cNvPr id="19" name="Shape 14"/>
          <p:cNvSpPr/>
          <p:nvPr/>
        </p:nvSpPr>
        <p:spPr>
          <a:xfrm>
            <a:off x="24498300" y="8020050"/>
            <a:ext cx="523875" cy="304800"/>
          </a:xfrm>
          <a:prstGeom prst="roundRect">
            <a:avLst>
              <a:gd name="adj" fmla="val 17188"/>
            </a:avLst>
          </a:prstGeom>
          <a:solidFill>
            <a:srgbClr val="528E5E"/>
          </a:solidFill>
          <a:ln w="9525">
            <a:solidFill>
              <a:srgbClr val="3B784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4631650" y="8067675"/>
            <a:ext cx="285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770" dirty="0">
                <a:solidFill>
                  <a:srgbClr val="AAC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</a:t>
            </a:r>
            <a:endParaRPr lang="en-US" sz="1770" dirty="0"/>
          </a:p>
        </p:txBody>
      </p:sp>
      <p:sp>
        <p:nvSpPr>
          <p:cNvPr id="21" name="Shape 16"/>
          <p:cNvSpPr/>
          <p:nvPr/>
        </p:nvSpPr>
        <p:spPr>
          <a:xfrm>
            <a:off x="24498300" y="7572375"/>
            <a:ext cx="523875" cy="304800"/>
          </a:xfrm>
          <a:prstGeom prst="roundRect">
            <a:avLst>
              <a:gd name="adj" fmla="val 17188"/>
            </a:avLst>
          </a:prstGeom>
          <a:solidFill>
            <a:srgbClr val="55905E"/>
          </a:solidFill>
          <a:ln w="9525">
            <a:solidFill>
              <a:srgbClr val="4C845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4631650" y="7620000"/>
            <a:ext cx="285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725" dirty="0">
                <a:solidFill>
                  <a:srgbClr val="AFD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8x</a:t>
            </a:r>
            <a:endParaRPr lang="en-US" sz="1725" dirty="0"/>
          </a:p>
        </p:txBody>
      </p:sp>
      <p:sp>
        <p:nvSpPr>
          <p:cNvPr id="23" name="Shape 18"/>
          <p:cNvSpPr/>
          <p:nvPr/>
        </p:nvSpPr>
        <p:spPr>
          <a:xfrm>
            <a:off x="24498300" y="7134225"/>
            <a:ext cx="523875" cy="304800"/>
          </a:xfrm>
          <a:prstGeom prst="roundRect">
            <a:avLst>
              <a:gd name="adj" fmla="val 17188"/>
            </a:avLst>
          </a:prstGeom>
          <a:solidFill>
            <a:srgbClr val="579160"/>
          </a:solidFill>
          <a:ln w="9525">
            <a:solidFill>
              <a:srgbClr val="4E885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4641175" y="7181850"/>
            <a:ext cx="276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725" b="1" dirty="0">
                <a:solidFill>
                  <a:srgbClr val="A8C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n-US" sz="1725" dirty="0"/>
          </a:p>
        </p:txBody>
      </p:sp>
      <p:sp>
        <p:nvSpPr>
          <p:cNvPr id="25" name="Shape 20"/>
          <p:cNvSpPr/>
          <p:nvPr/>
        </p:nvSpPr>
        <p:spPr>
          <a:xfrm>
            <a:off x="24460200" y="6696075"/>
            <a:ext cx="571500" cy="304800"/>
          </a:xfrm>
          <a:prstGeom prst="roundRect">
            <a:avLst>
              <a:gd name="adj" fmla="val 17969"/>
            </a:avLst>
          </a:prstGeom>
          <a:solidFill>
            <a:srgbClr val="549462"/>
          </a:solidFill>
          <a:ln w="9525">
            <a:solidFill>
              <a:srgbClr val="49845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4545925" y="67341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98" b="1" dirty="0">
                <a:solidFill>
                  <a:srgbClr val="B2D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20x</a:t>
            </a:r>
            <a:endParaRPr lang="en-US" sz="1298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0150" y="6172200"/>
            <a:ext cx="5086350" cy="85725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79250" y="5619750"/>
            <a:ext cx="542925" cy="37147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24488775" y="5219700"/>
            <a:ext cx="542925" cy="314325"/>
          </a:xfrm>
          <a:prstGeom prst="roundRect">
            <a:avLst>
              <a:gd name="adj" fmla="val 16667"/>
            </a:avLst>
          </a:prstGeom>
          <a:solidFill>
            <a:srgbClr val="4F8E5A"/>
          </a:solidFill>
          <a:ln w="9525">
            <a:solidFill>
              <a:srgbClr val="3E804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24622125" y="5267325"/>
            <a:ext cx="314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373" dirty="0">
                <a:solidFill>
                  <a:srgbClr val="A4C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</a:t>
            </a:r>
            <a:endParaRPr lang="en-US" sz="1373" dirty="0"/>
          </a:p>
        </p:txBody>
      </p:sp>
      <p:sp>
        <p:nvSpPr>
          <p:cNvPr id="31" name="Shape 24"/>
          <p:cNvSpPr/>
          <p:nvPr/>
        </p:nvSpPr>
        <p:spPr>
          <a:xfrm>
            <a:off x="24507825" y="4772025"/>
            <a:ext cx="523875" cy="304800"/>
          </a:xfrm>
          <a:prstGeom prst="roundRect">
            <a:avLst>
              <a:gd name="adj" fmla="val 17188"/>
            </a:avLst>
          </a:prstGeom>
          <a:solidFill>
            <a:srgbClr val="52915D"/>
          </a:solidFill>
          <a:ln w="9525">
            <a:solidFill>
              <a:srgbClr val="357D41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4650700" y="4819650"/>
            <a:ext cx="266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4"/>
              </a:lnSpc>
              <a:buNone/>
            </a:pPr>
            <a:r>
              <a:rPr lang="en-US" sz="1542" dirty="0">
                <a:solidFill>
                  <a:srgbClr val="9EC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1.x</a:t>
            </a:r>
            <a:endParaRPr lang="en-US" sz="1542" dirty="0"/>
          </a:p>
        </p:txBody>
      </p:sp>
      <p:sp>
        <p:nvSpPr>
          <p:cNvPr id="33" name="Shape 26"/>
          <p:cNvSpPr/>
          <p:nvPr/>
        </p:nvSpPr>
        <p:spPr>
          <a:xfrm>
            <a:off x="24507825" y="4324350"/>
            <a:ext cx="523875" cy="314325"/>
          </a:xfrm>
          <a:prstGeom prst="roundRect">
            <a:avLst>
              <a:gd name="adj" fmla="val 16667"/>
            </a:avLst>
          </a:prstGeom>
          <a:solidFill>
            <a:srgbClr val="56935F"/>
          </a:solidFill>
          <a:ln w="9525">
            <a:solidFill>
              <a:srgbClr val="4D865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4631650" y="4371975"/>
            <a:ext cx="295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950" dirty="0">
                <a:solidFill>
                  <a:srgbClr val="ADC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1950" dirty="0"/>
          </a:p>
        </p:txBody>
      </p:sp>
      <p:sp>
        <p:nvSpPr>
          <p:cNvPr id="35" name="Shape 28"/>
          <p:cNvSpPr/>
          <p:nvPr/>
        </p:nvSpPr>
        <p:spPr>
          <a:xfrm>
            <a:off x="24488775" y="3876675"/>
            <a:ext cx="552450" cy="304800"/>
          </a:xfrm>
          <a:prstGeom prst="roundRect">
            <a:avLst>
              <a:gd name="adj" fmla="val 17188"/>
            </a:avLst>
          </a:prstGeom>
          <a:solidFill>
            <a:srgbClr val="518F5C"/>
          </a:solidFill>
          <a:ln w="9525">
            <a:solidFill>
              <a:srgbClr val="43844C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4574500" y="391477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418" dirty="0">
                <a:solidFill>
                  <a:srgbClr val="AEC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19x</a:t>
            </a:r>
            <a:endParaRPr lang="en-US" sz="1418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8250" y="3362325"/>
            <a:ext cx="5029200" cy="1905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0554950" y="10706100"/>
            <a:ext cx="1647825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1"/>
              </a:lnSpc>
              <a:buNone/>
            </a:pPr>
            <a:r>
              <a:rPr lang="en-US" sz="2175" dirty="0">
                <a:solidFill>
                  <a:srgbClr val="6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Flask</a:t>
            </a:r>
            <a:endParaRPr lang="en-US" sz="2175" dirty="0"/>
          </a:p>
          <a:p>
            <a:pPr algn="l" indent="0" marL="0">
              <a:lnSpc>
                <a:spcPts val="3011"/>
              </a:lnSpc>
              <a:buNone/>
            </a:pPr>
            <a:r>
              <a:rPr lang="en-US" sz="2175" dirty="0">
                <a:solidFill>
                  <a:srgbClr val="6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scitit-learn</a:t>
            </a:r>
            <a:endParaRPr lang="en-US" sz="2175" dirty="0"/>
          </a:p>
          <a:p>
            <a:pPr algn="l" indent="0" marL="0">
              <a:lnSpc>
                <a:spcPts val="3011"/>
              </a:lnSpc>
              <a:buNone/>
            </a:pPr>
            <a:r>
              <a:rPr lang="en-US" sz="2175" dirty="0">
                <a:solidFill>
                  <a:srgbClr val="6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2175" dirty="0"/>
          </a:p>
        </p:txBody>
      </p:sp>
      <p:sp>
        <p:nvSpPr>
          <p:cNvPr id="39" name="Text 31"/>
          <p:cNvSpPr/>
          <p:nvPr/>
        </p:nvSpPr>
        <p:spPr>
          <a:xfrm>
            <a:off x="20564475" y="10391775"/>
            <a:ext cx="400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942" dirty="0">
                <a:solidFill>
                  <a:srgbClr val="446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942" dirty="0"/>
          </a:p>
        </p:txBody>
      </p:sp>
      <p:sp>
        <p:nvSpPr>
          <p:cNvPr id="40" name="Text 32"/>
          <p:cNvSpPr/>
          <p:nvPr/>
        </p:nvSpPr>
        <p:spPr>
          <a:xfrm>
            <a:off x="20564475" y="9391650"/>
            <a:ext cx="23526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34"/>
              </a:lnSpc>
              <a:buNone/>
            </a:pPr>
            <a:r>
              <a:rPr lang="en-US" sz="2057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MO</a:t>
            </a:r>
            <a:endParaRPr lang="en-US" sz="2057" dirty="0"/>
          </a:p>
          <a:p>
            <a:pPr algn="l" indent="0" marL="0">
              <a:lnSpc>
                <a:spcPts val="2434"/>
              </a:lnSpc>
              <a:buNone/>
            </a:pPr>
            <a:r>
              <a:rPr lang="en-US" sz="2057" dirty="0">
                <a:solidFill>
                  <a:srgbClr val="727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Upstash</a:t>
            </a:r>
            <a:endParaRPr lang="en-US" sz="2057" dirty="0"/>
          </a:p>
        </p:txBody>
      </p:sp>
      <p:sp>
        <p:nvSpPr>
          <p:cNvPr id="41" name="Text 33"/>
          <p:cNvSpPr/>
          <p:nvPr/>
        </p:nvSpPr>
        <p:spPr>
          <a:xfrm>
            <a:off x="20564475" y="907732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875" b="1" dirty="0">
                <a:solidFill>
                  <a:srgbClr val="597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75" dirty="0"/>
          </a:p>
        </p:txBody>
      </p:sp>
      <p:sp>
        <p:nvSpPr>
          <p:cNvPr id="42" name="Text 34"/>
          <p:cNvSpPr/>
          <p:nvPr/>
        </p:nvSpPr>
        <p:spPr>
          <a:xfrm>
            <a:off x="20554950" y="6667500"/>
            <a:ext cx="1457325" cy="210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62"/>
              </a:lnSpc>
              <a:buNone/>
            </a:pPr>
            <a:r>
              <a:rPr lang="en-US" sz="204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2040" dirty="0"/>
          </a:p>
          <a:p>
            <a:pPr algn="l" indent="0" marL="0">
              <a:lnSpc>
                <a:spcPts val="2762"/>
              </a:lnSpc>
              <a:buNone/>
            </a:pPr>
            <a:r>
              <a:rPr lang="en-US" sz="204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Express4</a:t>
            </a:r>
            <a:endParaRPr lang="en-US" sz="2040" dirty="0"/>
          </a:p>
          <a:p>
            <a:pPr algn="l" indent="0" marL="0">
              <a:lnSpc>
                <a:spcPts val="2762"/>
              </a:lnSpc>
              <a:buNone/>
            </a:pPr>
            <a:r>
              <a:rPr lang="en-US" sz="204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Mongulese</a:t>
            </a:r>
            <a:endParaRPr lang="en-US" sz="2040" dirty="0"/>
          </a:p>
          <a:p>
            <a:pPr algn="l" indent="0" marL="0">
              <a:lnSpc>
                <a:spcPts val="2762"/>
              </a:lnSpc>
              <a:buNone/>
            </a:pPr>
            <a:r>
              <a:rPr lang="en-US" sz="204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2040" dirty="0"/>
          </a:p>
          <a:p>
            <a:pPr algn="l" indent="0" marL="0">
              <a:lnSpc>
                <a:spcPts val="2762"/>
              </a:lnSpc>
              <a:buNone/>
            </a:pPr>
            <a:r>
              <a:rPr lang="en-US" sz="2040" dirty="0">
                <a:solidFill>
                  <a:srgbClr val="6D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JTN</a:t>
            </a:r>
            <a:endParaRPr lang="en-US" sz="2040" dirty="0"/>
          </a:p>
        </p:txBody>
      </p:sp>
      <p:sp>
        <p:nvSpPr>
          <p:cNvPr id="43" name="Text 35"/>
          <p:cNvSpPr/>
          <p:nvPr/>
        </p:nvSpPr>
        <p:spPr>
          <a:xfrm>
            <a:off x="20574000" y="631507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890" b="1" dirty="0">
                <a:solidFill>
                  <a:srgbClr val="587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90" dirty="0"/>
          </a:p>
        </p:txBody>
      </p:sp>
      <p:sp>
        <p:nvSpPr>
          <p:cNvPr id="44" name="Text 36"/>
          <p:cNvSpPr/>
          <p:nvPr/>
        </p:nvSpPr>
        <p:spPr>
          <a:xfrm>
            <a:off x="20574000" y="5695950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204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</a:t>
            </a:r>
            <a:endParaRPr lang="en-US" sz="2040" dirty="0"/>
          </a:p>
        </p:txBody>
      </p:sp>
      <p:sp>
        <p:nvSpPr>
          <p:cNvPr id="45" name="Text 37"/>
          <p:cNvSpPr/>
          <p:nvPr/>
        </p:nvSpPr>
        <p:spPr>
          <a:xfrm>
            <a:off x="20564475" y="5229225"/>
            <a:ext cx="1028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198" dirty="0">
                <a:solidFill>
                  <a:srgbClr val="6566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</a:t>
            </a:r>
            <a:endParaRPr lang="en-US" sz="2198" dirty="0"/>
          </a:p>
        </p:txBody>
      </p:sp>
      <p:sp>
        <p:nvSpPr>
          <p:cNvPr id="46" name="Text 38"/>
          <p:cNvSpPr/>
          <p:nvPr/>
        </p:nvSpPr>
        <p:spPr>
          <a:xfrm>
            <a:off x="20554950" y="4800600"/>
            <a:ext cx="7334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2262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2262" dirty="0"/>
          </a:p>
        </p:txBody>
      </p:sp>
      <p:sp>
        <p:nvSpPr>
          <p:cNvPr id="47" name="Text 39"/>
          <p:cNvSpPr/>
          <p:nvPr/>
        </p:nvSpPr>
        <p:spPr>
          <a:xfrm>
            <a:off x="20554950" y="4343400"/>
            <a:ext cx="800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2190" dirty="0">
                <a:solidFill>
                  <a:srgbClr val="616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6</a:t>
            </a:r>
            <a:endParaRPr lang="en-US" sz="2190" dirty="0"/>
          </a:p>
        </p:txBody>
      </p:sp>
      <p:sp>
        <p:nvSpPr>
          <p:cNvPr id="48" name="Text 40"/>
          <p:cNvSpPr/>
          <p:nvPr/>
        </p:nvSpPr>
        <p:spPr>
          <a:xfrm>
            <a:off x="20574000" y="3886200"/>
            <a:ext cx="10858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2017" dirty="0">
                <a:solidFill>
                  <a:srgbClr val="686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2017" dirty="0"/>
          </a:p>
        </p:txBody>
      </p:sp>
      <p:sp>
        <p:nvSpPr>
          <p:cNvPr id="49" name="Text 41"/>
          <p:cNvSpPr/>
          <p:nvPr/>
        </p:nvSpPr>
        <p:spPr>
          <a:xfrm>
            <a:off x="20564475" y="349567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920" b="1" dirty="0">
                <a:solidFill>
                  <a:srgbClr val="5D7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Frontent</a:t>
            </a:r>
            <a:endParaRPr lang="en-US" sz="1920" dirty="0"/>
          </a:p>
        </p:txBody>
      </p:sp>
      <p:sp>
        <p:nvSpPr>
          <p:cNvPr id="50" name="Text 42"/>
          <p:cNvSpPr/>
          <p:nvPr/>
        </p:nvSpPr>
        <p:spPr>
          <a:xfrm>
            <a:off x="21726525" y="2847975"/>
            <a:ext cx="21812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633" b="1" dirty="0">
                <a:solidFill>
                  <a:srgbClr val="568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633" dirty="0"/>
          </a:p>
        </p:txBody>
      </p:sp>
      <p:sp>
        <p:nvSpPr>
          <p:cNvPr id="51" name="Text 43"/>
          <p:cNvSpPr/>
          <p:nvPr/>
        </p:nvSpPr>
        <p:spPr>
          <a:xfrm>
            <a:off x="14925675" y="14478000"/>
            <a:ext cx="34575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605" dirty="0">
                <a:solidFill>
                  <a:srgbClr val="979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fallover for critical flows</a:t>
            </a:r>
            <a:endParaRPr lang="en-US" sz="1605" dirty="0"/>
          </a:p>
        </p:txBody>
      </p:sp>
      <p:sp>
        <p:nvSpPr>
          <p:cNvPr id="52" name="Text 44"/>
          <p:cNvSpPr/>
          <p:nvPr/>
        </p:nvSpPr>
        <p:spPr>
          <a:xfrm>
            <a:off x="8039100" y="14478000"/>
            <a:ext cx="3524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448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blips may impact availability</a:t>
            </a:r>
            <a:endParaRPr lang="en-US" sz="1448" dirty="0"/>
          </a:p>
        </p:txBody>
      </p:sp>
      <p:sp>
        <p:nvSpPr>
          <p:cNvPr id="53" name="Text 45"/>
          <p:cNvSpPr/>
          <p:nvPr/>
        </p:nvSpPr>
        <p:spPr>
          <a:xfrm>
            <a:off x="14944725" y="14201775"/>
            <a:ext cx="277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867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DB Fallback</a:t>
            </a:r>
            <a:endParaRPr lang="en-US" sz="1867" dirty="0"/>
          </a:p>
        </p:txBody>
      </p:sp>
      <p:sp>
        <p:nvSpPr>
          <p:cNvPr id="54" name="Text 46"/>
          <p:cNvSpPr/>
          <p:nvPr/>
        </p:nvSpPr>
        <p:spPr>
          <a:xfrm>
            <a:off x="14944725" y="13877925"/>
            <a:ext cx="2819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68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APl calls by 40-60%</a:t>
            </a:r>
            <a:endParaRPr lang="en-US" sz="1568" dirty="0"/>
          </a:p>
        </p:txBody>
      </p:sp>
      <p:sp>
        <p:nvSpPr>
          <p:cNvPr id="55" name="Text 47"/>
          <p:cNvSpPr/>
          <p:nvPr/>
        </p:nvSpPr>
        <p:spPr>
          <a:xfrm>
            <a:off x="14954250" y="13611225"/>
            <a:ext cx="15430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808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Caching</a:t>
            </a:r>
            <a:endParaRPr lang="en-US" sz="1808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15975" y="13582650"/>
            <a:ext cx="19050" cy="85725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8048625" y="14201775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96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Connectivity</a:t>
            </a:r>
            <a:endParaRPr lang="en-US" sz="1965" dirty="0"/>
          </a:p>
        </p:txBody>
      </p:sp>
      <p:sp>
        <p:nvSpPr>
          <p:cNvPr id="58" name="Text 49"/>
          <p:cNvSpPr/>
          <p:nvPr/>
        </p:nvSpPr>
        <p:spPr>
          <a:xfrm>
            <a:off x="8039100" y="13877925"/>
            <a:ext cx="2524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93" dirty="0">
                <a:solidFill>
                  <a:srgbClr val="8E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APls may throttle</a:t>
            </a:r>
            <a:endParaRPr lang="en-US" sz="1493" dirty="0"/>
          </a:p>
        </p:txBody>
      </p:sp>
      <p:sp>
        <p:nvSpPr>
          <p:cNvPr id="59" name="Text 50"/>
          <p:cNvSpPr/>
          <p:nvPr/>
        </p:nvSpPr>
        <p:spPr>
          <a:xfrm>
            <a:off x="8039100" y="13601700"/>
            <a:ext cx="1790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2008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Rate Limits</a:t>
            </a:r>
            <a:endParaRPr lang="en-US" sz="2008" dirty="0"/>
          </a:p>
        </p:txBody>
      </p:sp>
      <p:sp>
        <p:nvSpPr>
          <p:cNvPr id="60" name="Text 51"/>
          <p:cNvSpPr/>
          <p:nvPr/>
        </p:nvSpPr>
        <p:spPr>
          <a:xfrm>
            <a:off x="14973300" y="13211175"/>
            <a:ext cx="13620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40" b="1" dirty="0">
                <a:solidFill>
                  <a:srgbClr val="5C76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2040" dirty="0"/>
          </a:p>
        </p:txBody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06575" y="13230225"/>
            <a:ext cx="333375" cy="323850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11029950" y="12992100"/>
            <a:ext cx="31432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2415" b="1" dirty="0">
                <a:solidFill>
                  <a:srgbClr val="4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MITIGATION</a:t>
            </a:r>
            <a:endParaRPr lang="en-US" sz="2415" dirty="0"/>
          </a:p>
        </p:txBody>
      </p:sp>
      <p:sp>
        <p:nvSpPr>
          <p:cNvPr id="63" name="Text 53"/>
          <p:cNvSpPr/>
          <p:nvPr/>
        </p:nvSpPr>
        <p:spPr>
          <a:xfrm>
            <a:off x="8048625" y="13220700"/>
            <a:ext cx="1914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2033" b="1" dirty="0">
                <a:solidFill>
                  <a:srgbClr val="5E75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Risks</a:t>
            </a:r>
            <a:endParaRPr lang="en-US" sz="2033" dirty="0"/>
          </a:p>
        </p:txBody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13192125"/>
            <a:ext cx="390525" cy="352425"/>
          </a:xfrm>
          <a:prstGeom prst="rect">
            <a:avLst/>
          </a:prstGeom>
        </p:spPr>
      </p:pic>
      <p:sp>
        <p:nvSpPr>
          <p:cNvPr id="65" name="Shape 54"/>
          <p:cNvSpPr/>
          <p:nvPr/>
        </p:nvSpPr>
        <p:spPr>
          <a:xfrm>
            <a:off x="1152525" y="7000875"/>
            <a:ext cx="18345150" cy="2943225"/>
          </a:xfrm>
          <a:prstGeom prst="roundRect">
            <a:avLst>
              <a:gd name="adj" fmla="val 4531"/>
            </a:avLst>
          </a:prstGeom>
          <a:solidFill>
            <a:srgbClr val="F5F6F5"/>
          </a:solidFill>
          <a:ln w="19050">
            <a:solidFill>
              <a:srgbClr val="DDE2DE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15116175" y="8953500"/>
            <a:ext cx="4067175" cy="723900"/>
          </a:xfrm>
          <a:prstGeom prst="roundRect">
            <a:avLst>
              <a:gd name="adj" fmla="val 21053"/>
            </a:avLst>
          </a:prstGeom>
          <a:solidFill>
            <a:srgbClr val="F6F7F6"/>
          </a:solidFill>
          <a:ln w="38100">
            <a:solidFill>
              <a:srgbClr val="85A88C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21000" y="9144000"/>
            <a:ext cx="457200" cy="361950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16278225" y="9334500"/>
            <a:ext cx="16478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8" dirty="0">
                <a:solidFill>
                  <a:srgbClr val="7A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Insights</a:t>
            </a:r>
            <a:endParaRPr lang="en-US" sz="1508" dirty="0"/>
          </a:p>
        </p:txBody>
      </p:sp>
      <p:sp>
        <p:nvSpPr>
          <p:cNvPr id="69" name="Text 57"/>
          <p:cNvSpPr/>
          <p:nvPr/>
        </p:nvSpPr>
        <p:spPr>
          <a:xfrm>
            <a:off x="16268700" y="9048750"/>
            <a:ext cx="1981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973" dirty="0">
                <a:solidFill>
                  <a:srgbClr val="65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Service</a:t>
            </a:r>
            <a:endParaRPr lang="en-US" sz="1973" dirty="0"/>
          </a:p>
        </p:txBody>
      </p:sp>
      <p:sp>
        <p:nvSpPr>
          <p:cNvPr id="70" name="Shape 58"/>
          <p:cNvSpPr/>
          <p:nvPr/>
        </p:nvSpPr>
        <p:spPr>
          <a:xfrm>
            <a:off x="10563225" y="8953500"/>
            <a:ext cx="4048125" cy="723900"/>
          </a:xfrm>
          <a:prstGeom prst="roundRect">
            <a:avLst>
              <a:gd name="adj" fmla="val 19737"/>
            </a:avLst>
          </a:prstGeom>
          <a:solidFill>
            <a:srgbClr val="F6F7F6"/>
          </a:solidFill>
          <a:ln w="28575">
            <a:solidFill>
              <a:srgbClr val="87A98D"/>
            </a:solidFill>
            <a:prstDash val="solid"/>
          </a:ln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3300" y="9105900"/>
            <a:ext cx="371475" cy="409575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11763375" y="9029700"/>
            <a:ext cx="23050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8"/>
              </a:lnSpc>
              <a:buNone/>
            </a:pPr>
            <a:r>
              <a:rPr lang="en-US" sz="1838" dirty="0">
                <a:solidFill>
                  <a:srgbClr val="5E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Service</a:t>
            </a:r>
            <a:endParaRPr lang="en-US" sz="1838" dirty="0"/>
          </a:p>
          <a:p>
            <a:pPr algn="l" indent="0" marL="0">
              <a:lnSpc>
                <a:spcPts val="2168"/>
              </a:lnSpc>
              <a:buNone/>
            </a:pPr>
            <a:r>
              <a:rPr lang="en-US" sz="1838" dirty="0">
                <a:solidFill>
                  <a:srgbClr val="5E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SMS</a:t>
            </a:r>
            <a:endParaRPr lang="en-US" sz="1838" dirty="0"/>
          </a:p>
        </p:txBody>
      </p:sp>
      <p:sp>
        <p:nvSpPr>
          <p:cNvPr id="73" name="Shape 60"/>
          <p:cNvSpPr/>
          <p:nvPr/>
        </p:nvSpPr>
        <p:spPr>
          <a:xfrm>
            <a:off x="6038850" y="8943975"/>
            <a:ext cx="4000500" cy="733425"/>
          </a:xfrm>
          <a:prstGeom prst="roundRect">
            <a:avLst>
              <a:gd name="adj" fmla="val 23377"/>
            </a:avLst>
          </a:prstGeom>
          <a:solidFill>
            <a:srgbClr val="F5F6F4"/>
          </a:solidFill>
          <a:ln w="38100">
            <a:solidFill>
              <a:srgbClr val="85A98B"/>
            </a:solidFill>
            <a:prstDash val="solid"/>
          </a:ln>
        </p:spPr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2725" y="9163050"/>
            <a:ext cx="419100" cy="352425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7172325" y="9334500"/>
            <a:ext cx="1895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68" dirty="0">
                <a:solidFill>
                  <a:srgbClr val="7F8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Integration</a:t>
            </a:r>
            <a:endParaRPr lang="en-US" sz="1568" dirty="0"/>
          </a:p>
        </p:txBody>
      </p:sp>
      <p:sp>
        <p:nvSpPr>
          <p:cNvPr id="76" name="Text 62"/>
          <p:cNvSpPr/>
          <p:nvPr/>
        </p:nvSpPr>
        <p:spPr>
          <a:xfrm>
            <a:off x="7172325" y="9058275"/>
            <a:ext cx="1943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2001" dirty="0">
                <a:solidFill>
                  <a:srgbClr val="5C5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Service</a:t>
            </a:r>
            <a:endParaRPr lang="en-US" sz="2001" dirty="0"/>
          </a:p>
        </p:txBody>
      </p:sp>
      <p:sp>
        <p:nvSpPr>
          <p:cNvPr id="77" name="Shape 63"/>
          <p:cNvSpPr/>
          <p:nvPr/>
        </p:nvSpPr>
        <p:spPr>
          <a:xfrm>
            <a:off x="1495425" y="8953500"/>
            <a:ext cx="4029075" cy="723900"/>
          </a:xfrm>
          <a:prstGeom prst="roundRect">
            <a:avLst>
              <a:gd name="adj" fmla="val 21053"/>
            </a:avLst>
          </a:prstGeom>
          <a:solidFill>
            <a:srgbClr val="F4F6F4"/>
          </a:solidFill>
          <a:ln w="38100">
            <a:solidFill>
              <a:srgbClr val="83A989"/>
            </a:solidFill>
            <a:prstDash val="solid"/>
          </a:ln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6425" y="9115425"/>
            <a:ext cx="504825" cy="419100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2505075" y="9344025"/>
            <a:ext cx="24860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470" dirty="0">
                <a:solidFill>
                  <a:srgbClr val="88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Farmer-Buyer Matchmaking</a:t>
            </a:r>
            <a:endParaRPr lang="en-US" sz="1470" dirty="0"/>
          </a:p>
        </p:txBody>
      </p:sp>
      <p:sp>
        <p:nvSpPr>
          <p:cNvPr id="80" name="Text 65"/>
          <p:cNvSpPr/>
          <p:nvPr/>
        </p:nvSpPr>
        <p:spPr>
          <a:xfrm>
            <a:off x="2543175" y="9058275"/>
            <a:ext cx="2124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2114" dirty="0">
                <a:solidFill>
                  <a:srgbClr val="5D5F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Service</a:t>
            </a:r>
            <a:endParaRPr lang="en-US" sz="2114" dirty="0"/>
          </a:p>
        </p:txBody>
      </p:sp>
      <p:pic>
        <p:nvPicPr>
          <p:cNvPr id="8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62075" y="8601075"/>
            <a:ext cx="18002250" cy="19050"/>
          </a:xfrm>
          <a:prstGeom prst="rect">
            <a:avLst/>
          </a:prstGeom>
        </p:spPr>
      </p:pic>
      <p:pic>
        <p:nvPicPr>
          <p:cNvPr id="8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06700" y="8382000"/>
            <a:ext cx="228600" cy="523875"/>
          </a:xfrm>
          <a:prstGeom prst="rect">
            <a:avLst/>
          </a:prstGeom>
        </p:spPr>
      </p:pic>
      <p:pic>
        <p:nvPicPr>
          <p:cNvPr id="8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11225" y="8486775"/>
            <a:ext cx="257175" cy="419100"/>
          </a:xfrm>
          <a:prstGeom prst="rect">
            <a:avLst/>
          </a:prstGeom>
        </p:spPr>
      </p:pic>
      <p:pic>
        <p:nvPicPr>
          <p:cNvPr id="8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68050" y="8467725"/>
            <a:ext cx="238125" cy="438150"/>
          </a:xfrm>
          <a:prstGeom prst="rect">
            <a:avLst/>
          </a:prstGeom>
        </p:spPr>
      </p:pic>
      <p:pic>
        <p:nvPicPr>
          <p:cNvPr id="8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96050" y="8391525"/>
            <a:ext cx="247650" cy="514350"/>
          </a:xfrm>
          <a:prstGeom prst="rect">
            <a:avLst/>
          </a:prstGeom>
        </p:spPr>
      </p:pic>
      <p:pic>
        <p:nvPicPr>
          <p:cNvPr id="8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10050" y="8505825"/>
            <a:ext cx="266700" cy="409575"/>
          </a:xfrm>
          <a:prstGeom prst="rect">
            <a:avLst/>
          </a:prstGeom>
        </p:spPr>
      </p:pic>
      <p:pic>
        <p:nvPicPr>
          <p:cNvPr id="8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62150" y="8410575"/>
            <a:ext cx="238125" cy="485775"/>
          </a:xfrm>
          <a:prstGeom prst="rect">
            <a:avLst/>
          </a:prstGeom>
        </p:spPr>
      </p:pic>
      <p:sp>
        <p:nvSpPr>
          <p:cNvPr id="88" name="Shape 66"/>
          <p:cNvSpPr/>
          <p:nvPr/>
        </p:nvSpPr>
        <p:spPr>
          <a:xfrm>
            <a:off x="15125700" y="7639050"/>
            <a:ext cx="4057650" cy="714375"/>
          </a:xfrm>
          <a:prstGeom prst="roundRect">
            <a:avLst>
              <a:gd name="adj" fmla="val 20000"/>
            </a:avLst>
          </a:prstGeom>
          <a:solidFill>
            <a:srgbClr val="F6F7F6"/>
          </a:solidFill>
          <a:ln w="28575">
            <a:solidFill>
              <a:srgbClr val="A1BDA6"/>
            </a:solidFill>
            <a:prstDash val="solid"/>
          </a:ln>
        </p:spPr>
      </p:sp>
      <p:pic>
        <p:nvPicPr>
          <p:cNvPr id="8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640050" y="7800975"/>
            <a:ext cx="485775" cy="400050"/>
          </a:xfrm>
          <a:prstGeom prst="rect">
            <a:avLst/>
          </a:prstGeom>
        </p:spPr>
      </p:pic>
      <p:sp>
        <p:nvSpPr>
          <p:cNvPr id="90" name="Text 67"/>
          <p:cNvSpPr/>
          <p:nvPr/>
        </p:nvSpPr>
        <p:spPr>
          <a:xfrm>
            <a:off x="16306800" y="8020050"/>
            <a:ext cx="1143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90" dirty="0">
                <a:solidFill>
                  <a:srgbClr val="898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</a:t>
            </a:r>
            <a:endParaRPr lang="en-US" sz="1590" dirty="0"/>
          </a:p>
        </p:txBody>
      </p:sp>
      <p:sp>
        <p:nvSpPr>
          <p:cNvPr id="91" name="Text 68"/>
          <p:cNvSpPr/>
          <p:nvPr/>
        </p:nvSpPr>
        <p:spPr>
          <a:xfrm>
            <a:off x="16306800" y="7724775"/>
            <a:ext cx="1666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905" dirty="0">
                <a:solidFill>
                  <a:srgbClr val="595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 Service</a:t>
            </a:r>
            <a:endParaRPr lang="en-US" sz="1905" dirty="0"/>
          </a:p>
        </p:txBody>
      </p:sp>
      <p:sp>
        <p:nvSpPr>
          <p:cNvPr id="92" name="Shape 69"/>
          <p:cNvSpPr/>
          <p:nvPr/>
        </p:nvSpPr>
        <p:spPr>
          <a:xfrm>
            <a:off x="10563225" y="7639050"/>
            <a:ext cx="4057650" cy="723900"/>
          </a:xfrm>
          <a:prstGeom prst="roundRect">
            <a:avLst>
              <a:gd name="adj" fmla="val 21053"/>
            </a:avLst>
          </a:prstGeom>
          <a:solidFill>
            <a:srgbClr val="F6F7F6"/>
          </a:solidFill>
          <a:ln w="38100">
            <a:solidFill>
              <a:srgbClr val="90B29A"/>
            </a:solidFill>
            <a:prstDash val="solid"/>
          </a:ln>
        </p:spPr>
      </p:sp>
      <p:pic>
        <p:nvPicPr>
          <p:cNvPr id="9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29975" y="7800975"/>
            <a:ext cx="381000" cy="400050"/>
          </a:xfrm>
          <a:prstGeom prst="rect">
            <a:avLst/>
          </a:prstGeom>
        </p:spPr>
      </p:pic>
      <p:sp>
        <p:nvSpPr>
          <p:cNvPr id="94" name="Text 70"/>
          <p:cNvSpPr/>
          <p:nvPr/>
        </p:nvSpPr>
        <p:spPr>
          <a:xfrm>
            <a:off x="11801475" y="8020050"/>
            <a:ext cx="1466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552" dirty="0">
                <a:solidFill>
                  <a:srgbClr val="898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&amp; Search</a:t>
            </a:r>
            <a:endParaRPr lang="en-US" sz="1552" dirty="0"/>
          </a:p>
        </p:txBody>
      </p:sp>
      <p:sp>
        <p:nvSpPr>
          <p:cNvPr id="95" name="Text 71"/>
          <p:cNvSpPr/>
          <p:nvPr/>
        </p:nvSpPr>
        <p:spPr>
          <a:xfrm>
            <a:off x="11811000" y="7724775"/>
            <a:ext cx="16859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7"/>
              </a:lnSpc>
              <a:buNone/>
            </a:pPr>
            <a:r>
              <a:rPr lang="en-US" sz="1986" dirty="0">
                <a:solidFill>
                  <a:srgbClr val="505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Service</a:t>
            </a:r>
            <a:endParaRPr lang="en-US" sz="1986" dirty="0"/>
          </a:p>
        </p:txBody>
      </p:sp>
      <p:sp>
        <p:nvSpPr>
          <p:cNvPr id="96" name="Shape 72"/>
          <p:cNvSpPr/>
          <p:nvPr/>
        </p:nvSpPr>
        <p:spPr>
          <a:xfrm>
            <a:off x="6048375" y="7639050"/>
            <a:ext cx="3981450" cy="733425"/>
          </a:xfrm>
          <a:prstGeom prst="roundRect">
            <a:avLst>
              <a:gd name="adj" fmla="val 23377"/>
            </a:avLst>
          </a:prstGeom>
          <a:solidFill>
            <a:srgbClr val="F6F7F5"/>
          </a:solidFill>
          <a:ln w="28575">
            <a:solidFill>
              <a:srgbClr val="98B69E"/>
            </a:solidFill>
            <a:prstDash val="solid"/>
          </a:ln>
        </p:spPr>
      </p:sp>
      <p:pic>
        <p:nvPicPr>
          <p:cNvPr id="9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19900" y="7820025"/>
            <a:ext cx="390525" cy="381000"/>
          </a:xfrm>
          <a:prstGeom prst="rect">
            <a:avLst/>
          </a:prstGeom>
        </p:spPr>
      </p:pic>
      <p:sp>
        <p:nvSpPr>
          <p:cNvPr id="98" name="Text 73"/>
          <p:cNvSpPr/>
          <p:nvPr/>
        </p:nvSpPr>
        <p:spPr>
          <a:xfrm>
            <a:off x="7400925" y="8020050"/>
            <a:ext cx="14097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7"/>
              </a:lnSpc>
              <a:buNone/>
            </a:pPr>
            <a:r>
              <a:rPr lang="en-US" sz="1546" dirty="0">
                <a:solidFill>
                  <a:srgbClr val="888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&amp; Roles</a:t>
            </a:r>
            <a:endParaRPr lang="en-US" sz="1546" dirty="0"/>
          </a:p>
        </p:txBody>
      </p:sp>
      <p:sp>
        <p:nvSpPr>
          <p:cNvPr id="99" name="Text 74"/>
          <p:cNvSpPr/>
          <p:nvPr/>
        </p:nvSpPr>
        <p:spPr>
          <a:xfrm>
            <a:off x="7410450" y="7734300"/>
            <a:ext cx="146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883" dirty="0">
                <a:solidFill>
                  <a:srgbClr val="53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1883" dirty="0"/>
          </a:p>
        </p:txBody>
      </p:sp>
      <p:sp>
        <p:nvSpPr>
          <p:cNvPr id="100" name="Shape 75"/>
          <p:cNvSpPr/>
          <p:nvPr/>
        </p:nvSpPr>
        <p:spPr>
          <a:xfrm>
            <a:off x="1485900" y="7658100"/>
            <a:ext cx="4038600" cy="714375"/>
          </a:xfrm>
          <a:prstGeom prst="roundRect">
            <a:avLst>
              <a:gd name="adj" fmla="val 21333"/>
            </a:avLst>
          </a:prstGeom>
          <a:solidFill>
            <a:srgbClr val="F5F6F5"/>
          </a:solidFill>
          <a:ln w="38100">
            <a:solidFill>
              <a:srgbClr val="8BAA8E"/>
            </a:solidFill>
            <a:prstDash val="solid"/>
          </a:ln>
        </p:spPr>
      </p:sp>
      <p:pic>
        <p:nvPicPr>
          <p:cNvPr id="10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47900" y="7810500"/>
            <a:ext cx="361950" cy="409575"/>
          </a:xfrm>
          <a:prstGeom prst="rect">
            <a:avLst/>
          </a:prstGeom>
        </p:spPr>
      </p:pic>
      <p:sp>
        <p:nvSpPr>
          <p:cNvPr id="102" name="Text 76"/>
          <p:cNvSpPr/>
          <p:nvPr/>
        </p:nvSpPr>
        <p:spPr>
          <a:xfrm>
            <a:off x="2809875" y="80200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650" dirty="0">
                <a:solidFill>
                  <a:srgbClr val="8C8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JTN &amp; OAuth</a:t>
            </a:r>
            <a:endParaRPr lang="en-US" sz="1650" dirty="0"/>
          </a:p>
        </p:txBody>
      </p:sp>
      <p:sp>
        <p:nvSpPr>
          <p:cNvPr id="103" name="Text 77"/>
          <p:cNvSpPr/>
          <p:nvPr/>
        </p:nvSpPr>
        <p:spPr>
          <a:xfrm>
            <a:off x="2819400" y="773430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942" dirty="0">
                <a:solidFill>
                  <a:srgbClr val="4C4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942" dirty="0"/>
          </a:p>
        </p:txBody>
      </p:sp>
      <p:sp>
        <p:nvSpPr>
          <p:cNvPr id="104" name="Text 78"/>
          <p:cNvSpPr/>
          <p:nvPr/>
        </p:nvSpPr>
        <p:spPr>
          <a:xfrm>
            <a:off x="1524000" y="7305675"/>
            <a:ext cx="2886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838" dirty="0">
                <a:solidFill>
                  <a:srgbClr val="777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(Stateless)</a:t>
            </a:r>
            <a:endParaRPr lang="en-US" sz="1838" dirty="0"/>
          </a:p>
        </p:txBody>
      </p:sp>
      <p:sp>
        <p:nvSpPr>
          <p:cNvPr id="105" name="Text 79"/>
          <p:cNvSpPr/>
          <p:nvPr/>
        </p:nvSpPr>
        <p:spPr>
          <a:xfrm>
            <a:off x="1504950" y="7019925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2250" b="1" dirty="0">
                <a:solidFill>
                  <a:srgbClr val="537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LAYER</a:t>
            </a:r>
            <a:endParaRPr lang="en-US" sz="2250" dirty="0"/>
          </a:p>
        </p:txBody>
      </p:sp>
      <p:sp>
        <p:nvSpPr>
          <p:cNvPr id="106" name="Shape 80"/>
          <p:cNvSpPr/>
          <p:nvPr/>
        </p:nvSpPr>
        <p:spPr>
          <a:xfrm>
            <a:off x="1123950" y="10287000"/>
            <a:ext cx="18345150" cy="2638425"/>
          </a:xfrm>
          <a:prstGeom prst="roundRect">
            <a:avLst>
              <a:gd name="adj" fmla="val 3971"/>
            </a:avLst>
          </a:prstGeom>
          <a:solidFill>
            <a:srgbClr val="F6F6F5"/>
          </a:solidFill>
          <a:ln w="19050">
            <a:solidFill>
              <a:srgbClr val="E6E8E3"/>
            </a:solidFill>
            <a:prstDash val="solid"/>
          </a:ln>
        </p:spPr>
      </p:sp>
      <p:sp>
        <p:nvSpPr>
          <p:cNvPr id="107" name="Shape 81"/>
          <p:cNvSpPr/>
          <p:nvPr/>
        </p:nvSpPr>
        <p:spPr>
          <a:xfrm>
            <a:off x="16840200" y="11925300"/>
            <a:ext cx="2486025" cy="714375"/>
          </a:xfrm>
          <a:prstGeom prst="roundRect">
            <a:avLst>
              <a:gd name="adj" fmla="val 20000"/>
            </a:avLst>
          </a:prstGeom>
          <a:solidFill>
            <a:srgbClr val="F6F7F6"/>
          </a:solidFill>
          <a:ln w="38100">
            <a:solidFill>
              <a:srgbClr val="E4D0AD"/>
            </a:solidFill>
            <a:prstDash val="solid"/>
          </a:ln>
        </p:spPr>
      </p:sp>
      <p:pic>
        <p:nvPicPr>
          <p:cNvPr id="10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068800" y="12115800"/>
            <a:ext cx="390525" cy="342900"/>
          </a:xfrm>
          <a:prstGeom prst="rect">
            <a:avLst/>
          </a:prstGeom>
        </p:spPr>
      </p:pic>
      <p:sp>
        <p:nvSpPr>
          <p:cNvPr id="109" name="Text 82"/>
          <p:cNvSpPr/>
          <p:nvPr/>
        </p:nvSpPr>
        <p:spPr>
          <a:xfrm>
            <a:off x="17611725" y="12306300"/>
            <a:ext cx="16478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4"/>
              </a:lnSpc>
              <a:buNone/>
            </a:pPr>
            <a:r>
              <a:rPr lang="en-US" sz="1357" dirty="0">
                <a:solidFill>
                  <a:srgbClr val="9C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Notifications</a:t>
            </a:r>
            <a:endParaRPr lang="en-US" sz="1357" dirty="0"/>
          </a:p>
        </p:txBody>
      </p:sp>
      <p:sp>
        <p:nvSpPr>
          <p:cNvPr id="110" name="Text 83"/>
          <p:cNvSpPr/>
          <p:nvPr/>
        </p:nvSpPr>
        <p:spPr>
          <a:xfrm>
            <a:off x="17621250" y="12030075"/>
            <a:ext cx="685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1"/>
              </a:lnSpc>
              <a:buNone/>
            </a:pPr>
            <a:r>
              <a:rPr lang="en-US" sz="2076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Brevo</a:t>
            </a:r>
            <a:endParaRPr lang="en-US" sz="2076" dirty="0"/>
          </a:p>
        </p:txBody>
      </p:sp>
      <p:sp>
        <p:nvSpPr>
          <p:cNvPr id="111" name="Shape 84"/>
          <p:cNvSpPr/>
          <p:nvPr/>
        </p:nvSpPr>
        <p:spPr>
          <a:xfrm>
            <a:off x="14116050" y="11925300"/>
            <a:ext cx="2543175" cy="695325"/>
          </a:xfrm>
          <a:prstGeom prst="roundRect">
            <a:avLst>
              <a:gd name="adj" fmla="val 16438"/>
            </a:avLst>
          </a:prstGeom>
          <a:solidFill>
            <a:srgbClr val="F6F6F5"/>
          </a:solidFill>
          <a:ln w="38100">
            <a:solidFill>
              <a:srgbClr val="E1CAA5"/>
            </a:solidFill>
            <a:prstDash val="solid"/>
          </a:ln>
        </p:spPr>
      </p:sp>
      <p:pic>
        <p:nvPicPr>
          <p:cNvPr id="11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344650" y="12068175"/>
            <a:ext cx="457200" cy="419100"/>
          </a:xfrm>
          <a:prstGeom prst="rect">
            <a:avLst/>
          </a:prstGeom>
        </p:spPr>
      </p:pic>
      <p:sp>
        <p:nvSpPr>
          <p:cNvPr id="113" name="Text 85"/>
          <p:cNvSpPr/>
          <p:nvPr/>
        </p:nvSpPr>
        <p:spPr>
          <a:xfrm>
            <a:off x="14906625" y="12306300"/>
            <a:ext cx="1247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586" dirty="0">
                <a:solidFill>
                  <a:srgbClr val="9C9D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</a:t>
            </a:r>
            <a:endParaRPr lang="en-US" sz="1586" dirty="0"/>
          </a:p>
        </p:txBody>
      </p:sp>
      <p:sp>
        <p:nvSpPr>
          <p:cNvPr id="114" name="Text 86"/>
          <p:cNvSpPr/>
          <p:nvPr/>
        </p:nvSpPr>
        <p:spPr>
          <a:xfrm>
            <a:off x="14925675" y="12030075"/>
            <a:ext cx="1476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725" b="1" dirty="0">
                <a:solidFill>
                  <a:srgbClr val="51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1725" dirty="0"/>
          </a:p>
        </p:txBody>
      </p:sp>
      <p:sp>
        <p:nvSpPr>
          <p:cNvPr id="115" name="Shape 87"/>
          <p:cNvSpPr/>
          <p:nvPr/>
        </p:nvSpPr>
        <p:spPr>
          <a:xfrm>
            <a:off x="11496675" y="11915775"/>
            <a:ext cx="2438400" cy="695325"/>
          </a:xfrm>
          <a:prstGeom prst="roundRect">
            <a:avLst>
              <a:gd name="adj" fmla="val 17808"/>
            </a:avLst>
          </a:prstGeom>
          <a:solidFill>
            <a:srgbClr val="F6F7F6"/>
          </a:solidFill>
          <a:ln w="38100">
            <a:solidFill>
              <a:srgbClr val="E2CCA9"/>
            </a:solidFill>
            <a:prstDash val="solid"/>
          </a:ln>
        </p:spPr>
      </p:sp>
      <p:pic>
        <p:nvPicPr>
          <p:cNvPr id="11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715750" y="12049125"/>
            <a:ext cx="542925" cy="419100"/>
          </a:xfrm>
          <a:prstGeom prst="rect">
            <a:avLst/>
          </a:prstGeom>
        </p:spPr>
      </p:pic>
      <p:sp>
        <p:nvSpPr>
          <p:cNvPr id="117" name="Text 88"/>
          <p:cNvSpPr/>
          <p:nvPr/>
        </p:nvSpPr>
        <p:spPr>
          <a:xfrm>
            <a:off x="12392025" y="12287250"/>
            <a:ext cx="14382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468" dirty="0">
                <a:solidFill>
                  <a:srgbClr val="9EA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&amp; Location</a:t>
            </a:r>
            <a:endParaRPr lang="en-US" sz="1468" dirty="0"/>
          </a:p>
        </p:txBody>
      </p:sp>
      <p:sp>
        <p:nvSpPr>
          <p:cNvPr id="118" name="Text 89"/>
          <p:cNvSpPr/>
          <p:nvPr/>
        </p:nvSpPr>
        <p:spPr>
          <a:xfrm>
            <a:off x="12392025" y="12001500"/>
            <a:ext cx="7905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9"/>
              </a:lnSpc>
              <a:buNone/>
            </a:pPr>
            <a:r>
              <a:rPr lang="en-US" sz="1989" dirty="0">
                <a:solidFill>
                  <a:srgbClr val="68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</a:t>
            </a:r>
            <a:endParaRPr lang="en-US" sz="1989" dirty="0"/>
          </a:p>
        </p:txBody>
      </p:sp>
      <p:sp>
        <p:nvSpPr>
          <p:cNvPr id="119" name="Shape 90"/>
          <p:cNvSpPr/>
          <p:nvPr/>
        </p:nvSpPr>
        <p:spPr>
          <a:xfrm>
            <a:off x="8524875" y="11896725"/>
            <a:ext cx="2790825" cy="685800"/>
          </a:xfrm>
          <a:prstGeom prst="roundRect">
            <a:avLst>
              <a:gd name="adj" fmla="val 17361"/>
            </a:avLst>
          </a:prstGeom>
          <a:solidFill>
            <a:srgbClr val="F6F6F5"/>
          </a:solidFill>
          <a:ln w="38100">
            <a:solidFill>
              <a:srgbClr val="E3CEAB"/>
            </a:solidFill>
            <a:prstDash val="solid"/>
          </a:ln>
        </p:spPr>
      </p:sp>
      <p:pic>
        <p:nvPicPr>
          <p:cNvPr id="12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82050" y="12068175"/>
            <a:ext cx="466725" cy="323850"/>
          </a:xfrm>
          <a:prstGeom prst="rect">
            <a:avLst/>
          </a:prstGeom>
        </p:spPr>
      </p:pic>
      <p:pic>
        <p:nvPicPr>
          <p:cNvPr id="12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01100" y="12163425"/>
            <a:ext cx="419100" cy="161925"/>
          </a:xfrm>
          <a:prstGeom prst="rect">
            <a:avLst/>
          </a:prstGeom>
        </p:spPr>
      </p:pic>
      <p:sp>
        <p:nvSpPr>
          <p:cNvPr id="122" name="Text 91"/>
          <p:cNvSpPr/>
          <p:nvPr/>
        </p:nvSpPr>
        <p:spPr>
          <a:xfrm>
            <a:off x="9382125" y="12277725"/>
            <a:ext cx="8763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508" dirty="0">
                <a:solidFill>
                  <a:srgbClr val="9B9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508" dirty="0"/>
          </a:p>
        </p:txBody>
      </p:sp>
      <p:sp>
        <p:nvSpPr>
          <p:cNvPr id="123" name="Text 92"/>
          <p:cNvSpPr/>
          <p:nvPr/>
        </p:nvSpPr>
        <p:spPr>
          <a:xfrm>
            <a:off x="9391650" y="1201102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3"/>
              </a:lnSpc>
              <a:buNone/>
            </a:pPr>
            <a:r>
              <a:rPr lang="en-US" sz="1993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</a:t>
            </a:r>
            <a:endParaRPr lang="en-US" sz="1993" dirty="0"/>
          </a:p>
        </p:txBody>
      </p:sp>
      <p:sp>
        <p:nvSpPr>
          <p:cNvPr id="124" name="Shape 93"/>
          <p:cNvSpPr/>
          <p:nvPr/>
        </p:nvSpPr>
        <p:spPr>
          <a:xfrm>
            <a:off x="14592300" y="11001375"/>
            <a:ext cx="2714625" cy="704850"/>
          </a:xfrm>
          <a:prstGeom prst="roundRect">
            <a:avLst>
              <a:gd name="adj" fmla="val 17568"/>
            </a:avLst>
          </a:prstGeom>
          <a:solidFill>
            <a:srgbClr val="F6F7F6"/>
          </a:solidFill>
          <a:ln w="38100">
            <a:solidFill>
              <a:srgbClr val="E2D0B0"/>
            </a:solidFill>
            <a:prstDash val="solid"/>
          </a:ln>
        </p:spPr>
      </p:sp>
      <p:pic>
        <p:nvPicPr>
          <p:cNvPr id="12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868525" y="11172825"/>
            <a:ext cx="390525" cy="381000"/>
          </a:xfrm>
          <a:prstGeom prst="rect">
            <a:avLst/>
          </a:prstGeom>
        </p:spPr>
      </p:pic>
      <p:sp>
        <p:nvSpPr>
          <p:cNvPr id="126" name="Text 94"/>
          <p:cNvSpPr/>
          <p:nvPr/>
        </p:nvSpPr>
        <p:spPr>
          <a:xfrm>
            <a:off x="15440025" y="11410950"/>
            <a:ext cx="971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68" dirty="0">
                <a:solidFill>
                  <a:srgbClr val="999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Data</a:t>
            </a:r>
            <a:endParaRPr lang="en-US" sz="1568" dirty="0"/>
          </a:p>
        </p:txBody>
      </p:sp>
      <p:sp>
        <p:nvSpPr>
          <p:cNvPr id="127" name="Text 95"/>
          <p:cNvSpPr/>
          <p:nvPr/>
        </p:nvSpPr>
        <p:spPr>
          <a:xfrm>
            <a:off x="15440025" y="11115675"/>
            <a:ext cx="1409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63" b="1" dirty="0">
                <a:solidFill>
                  <a:srgbClr val="4B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data.gov.in</a:t>
            </a:r>
            <a:endParaRPr lang="en-US" sz="2063" dirty="0"/>
          </a:p>
        </p:txBody>
      </p:sp>
      <p:sp>
        <p:nvSpPr>
          <p:cNvPr id="128" name="Shape 96"/>
          <p:cNvSpPr/>
          <p:nvPr/>
        </p:nvSpPr>
        <p:spPr>
          <a:xfrm>
            <a:off x="11582400" y="11001375"/>
            <a:ext cx="2800350" cy="695325"/>
          </a:xfrm>
          <a:prstGeom prst="roundRect">
            <a:avLst>
              <a:gd name="adj" fmla="val 13699"/>
            </a:avLst>
          </a:prstGeom>
          <a:solidFill>
            <a:srgbClr val="F7F7F5"/>
          </a:solidFill>
          <a:ln w="38100">
            <a:solidFill>
              <a:srgbClr val="E4D0AF"/>
            </a:solidFill>
            <a:prstDash val="solid"/>
          </a:ln>
        </p:spPr>
      </p:sp>
      <p:pic>
        <p:nvPicPr>
          <p:cNvPr id="12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849100" y="11125200"/>
            <a:ext cx="504825" cy="428625"/>
          </a:xfrm>
          <a:prstGeom prst="rect">
            <a:avLst/>
          </a:prstGeom>
        </p:spPr>
      </p:pic>
      <p:sp>
        <p:nvSpPr>
          <p:cNvPr id="130" name="Text 97"/>
          <p:cNvSpPr/>
          <p:nvPr/>
        </p:nvSpPr>
        <p:spPr>
          <a:xfrm>
            <a:off x="12506325" y="11372850"/>
            <a:ext cx="14001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1508" dirty="0">
                <a:solidFill>
                  <a:srgbClr val="9EA0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Market</a:t>
            </a:r>
            <a:endParaRPr lang="en-US" sz="1508" dirty="0"/>
          </a:p>
        </p:txBody>
      </p:sp>
      <p:sp>
        <p:nvSpPr>
          <p:cNvPr id="131" name="Text 98"/>
          <p:cNvSpPr/>
          <p:nvPr/>
        </p:nvSpPr>
        <p:spPr>
          <a:xfrm>
            <a:off x="12506325" y="11106150"/>
            <a:ext cx="762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28"/>
              </a:lnSpc>
              <a:buNone/>
            </a:pPr>
            <a:r>
              <a:rPr lang="en-US" sz="2095" dirty="0">
                <a:solidFill>
                  <a:srgbClr val="5E5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</a:t>
            </a:r>
            <a:endParaRPr lang="en-US" sz="2095" dirty="0"/>
          </a:p>
        </p:txBody>
      </p:sp>
      <p:sp>
        <p:nvSpPr>
          <p:cNvPr id="132" name="Shape 99"/>
          <p:cNvSpPr/>
          <p:nvPr/>
        </p:nvSpPr>
        <p:spPr>
          <a:xfrm>
            <a:off x="8524875" y="10982325"/>
            <a:ext cx="2857500" cy="685800"/>
          </a:xfrm>
          <a:prstGeom prst="roundRect">
            <a:avLst>
              <a:gd name="adj" fmla="val 16667"/>
            </a:avLst>
          </a:prstGeom>
          <a:solidFill>
            <a:srgbClr val="F6F7F5"/>
          </a:solidFill>
          <a:ln w="38100">
            <a:solidFill>
              <a:srgbClr val="E1CCA8"/>
            </a:solidFill>
            <a:prstDash val="solid"/>
          </a:ln>
        </p:spPr>
      </p:sp>
      <p:pic>
        <p:nvPicPr>
          <p:cNvPr id="1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801100" y="11134725"/>
            <a:ext cx="409575" cy="361950"/>
          </a:xfrm>
          <a:prstGeom prst="rect">
            <a:avLst/>
          </a:prstGeom>
        </p:spPr>
      </p:pic>
      <p:sp>
        <p:nvSpPr>
          <p:cNvPr id="134" name="Text 100"/>
          <p:cNvSpPr/>
          <p:nvPr/>
        </p:nvSpPr>
        <p:spPr>
          <a:xfrm>
            <a:off x="9372600" y="113633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42"/>
              </a:lnSpc>
              <a:buNone/>
            </a:pPr>
            <a:r>
              <a:rPr lang="en-US" sz="1537" dirty="0">
                <a:solidFill>
                  <a:srgbClr val="989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 Markers</a:t>
            </a:r>
            <a:endParaRPr lang="en-US" sz="1537" dirty="0"/>
          </a:p>
        </p:txBody>
      </p:sp>
      <p:sp>
        <p:nvSpPr>
          <p:cNvPr id="135" name="Text 101"/>
          <p:cNvSpPr/>
          <p:nvPr/>
        </p:nvSpPr>
        <p:spPr>
          <a:xfrm>
            <a:off x="9382125" y="11077575"/>
            <a:ext cx="1638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920" b="1" dirty="0">
                <a:solidFill>
                  <a:srgbClr val="4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</a:t>
            </a:r>
            <a:endParaRPr lang="en-US" sz="1920" dirty="0"/>
          </a:p>
        </p:txBody>
      </p:sp>
      <p:pic>
        <p:nvPicPr>
          <p:cNvPr id="13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43750" y="11239500"/>
            <a:ext cx="1371600" cy="1085850"/>
          </a:xfrm>
          <a:prstGeom prst="rect">
            <a:avLst/>
          </a:prstGeom>
        </p:spPr>
      </p:pic>
      <p:pic>
        <p:nvPicPr>
          <p:cNvPr id="137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420100" y="9963150"/>
            <a:ext cx="247650" cy="1704975"/>
          </a:xfrm>
          <a:prstGeom prst="rect">
            <a:avLst/>
          </a:prstGeom>
        </p:spPr>
      </p:pic>
      <p:pic>
        <p:nvPicPr>
          <p:cNvPr id="138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53275" y="11249025"/>
            <a:ext cx="1333500" cy="180975"/>
          </a:xfrm>
          <a:prstGeom prst="rect">
            <a:avLst/>
          </a:prstGeom>
        </p:spPr>
      </p:pic>
      <p:pic>
        <p:nvPicPr>
          <p:cNvPr id="139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514850" y="11744325"/>
            <a:ext cx="19050" cy="647700"/>
          </a:xfrm>
          <a:prstGeom prst="rect">
            <a:avLst/>
          </a:prstGeom>
        </p:spPr>
      </p:pic>
      <p:pic>
        <p:nvPicPr>
          <p:cNvPr id="14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228975" y="11039475"/>
            <a:ext cx="190500" cy="552450"/>
          </a:xfrm>
          <a:prstGeom prst="rect">
            <a:avLst/>
          </a:prstGeom>
        </p:spPr>
      </p:pic>
      <p:pic>
        <p:nvPicPr>
          <p:cNvPr id="141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85900" y="11639550"/>
            <a:ext cx="2762250" cy="809625"/>
          </a:xfrm>
          <a:prstGeom prst="rect">
            <a:avLst/>
          </a:prstGeom>
        </p:spPr>
      </p:pic>
      <p:pic>
        <p:nvPicPr>
          <p:cNvPr id="142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781175" y="11811000"/>
            <a:ext cx="381000" cy="438150"/>
          </a:xfrm>
          <a:prstGeom prst="rect">
            <a:avLst/>
          </a:prstGeom>
        </p:spPr>
      </p:pic>
      <p:sp>
        <p:nvSpPr>
          <p:cNvPr id="143" name="Text 102"/>
          <p:cNvSpPr/>
          <p:nvPr/>
        </p:nvSpPr>
        <p:spPr>
          <a:xfrm>
            <a:off x="2314575" y="11715750"/>
            <a:ext cx="12192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13"/>
              </a:lnSpc>
              <a:buNone/>
            </a:pPr>
            <a:r>
              <a:rPr lang="en-US" sz="1875" dirty="0">
                <a:solidFill>
                  <a:srgbClr val="4D4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875" dirty="0"/>
          </a:p>
          <a:p>
            <a:pPr algn="l" indent="0" marL="0">
              <a:lnSpc>
                <a:spcPts val="2213"/>
              </a:lnSpc>
              <a:buNone/>
            </a:pPr>
            <a:r>
              <a:rPr lang="en-US" sz="1875" dirty="0">
                <a:solidFill>
                  <a:srgbClr val="4D4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MO</a:t>
            </a:r>
            <a:endParaRPr lang="en-US" sz="1875" dirty="0"/>
          </a:p>
        </p:txBody>
      </p:sp>
      <p:sp>
        <p:nvSpPr>
          <p:cNvPr id="144" name="Shape 103"/>
          <p:cNvSpPr/>
          <p:nvPr/>
        </p:nvSpPr>
        <p:spPr>
          <a:xfrm>
            <a:off x="4791075" y="11639550"/>
            <a:ext cx="2333625" cy="809625"/>
          </a:xfrm>
          <a:prstGeom prst="roundRect">
            <a:avLst>
              <a:gd name="adj" fmla="val 16176"/>
            </a:avLst>
          </a:prstGeom>
          <a:solidFill>
            <a:srgbClr val="F3F4F3"/>
          </a:solidFill>
          <a:ln w="38100">
            <a:solidFill>
              <a:srgbClr val="81A788"/>
            </a:solidFill>
            <a:prstDash val="solid"/>
          </a:ln>
        </p:spPr>
      </p:sp>
      <p:pic>
        <p:nvPicPr>
          <p:cNvPr id="145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210175" y="11801475"/>
            <a:ext cx="381000" cy="447675"/>
          </a:xfrm>
          <a:prstGeom prst="rect">
            <a:avLst/>
          </a:prstGeom>
        </p:spPr>
      </p:pic>
      <p:sp>
        <p:nvSpPr>
          <p:cNvPr id="146" name="Text 104"/>
          <p:cNvSpPr/>
          <p:nvPr/>
        </p:nvSpPr>
        <p:spPr>
          <a:xfrm>
            <a:off x="5724525" y="11715750"/>
            <a:ext cx="9525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13"/>
              </a:lnSpc>
              <a:buNone/>
            </a:pPr>
            <a:r>
              <a:rPr lang="en-US" sz="1875" dirty="0">
                <a:solidFill>
                  <a:srgbClr val="53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875" dirty="0"/>
          </a:p>
          <a:p>
            <a:pPr algn="l" indent="0" marL="0">
              <a:lnSpc>
                <a:spcPts val="2213"/>
              </a:lnSpc>
              <a:buNone/>
            </a:pPr>
            <a:r>
              <a:rPr lang="en-US" sz="1875" dirty="0">
                <a:solidFill>
                  <a:srgbClr val="53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Upstash</a:t>
            </a:r>
            <a:endParaRPr lang="en-US" sz="1875" dirty="0"/>
          </a:p>
        </p:txBody>
      </p:sp>
      <p:pic>
        <p:nvPicPr>
          <p:cNvPr id="147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171950" y="11049000"/>
            <a:ext cx="685800" cy="666750"/>
          </a:xfrm>
          <a:prstGeom prst="rect">
            <a:avLst/>
          </a:prstGeom>
        </p:spPr>
      </p:pic>
      <p:sp>
        <p:nvSpPr>
          <p:cNvPr id="148" name="Text 105"/>
          <p:cNvSpPr/>
          <p:nvPr/>
        </p:nvSpPr>
        <p:spPr>
          <a:xfrm>
            <a:off x="1514475" y="10658475"/>
            <a:ext cx="3629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958" dirty="0">
                <a:solidFill>
                  <a:srgbClr val="7D81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Persistance &amp; External Services</a:t>
            </a:r>
            <a:endParaRPr lang="en-US" sz="1958" dirty="0"/>
          </a:p>
        </p:txBody>
      </p:sp>
      <p:sp>
        <p:nvSpPr>
          <p:cNvPr id="149" name="Text 106"/>
          <p:cNvSpPr/>
          <p:nvPr/>
        </p:nvSpPr>
        <p:spPr>
          <a:xfrm>
            <a:off x="1524000" y="10353675"/>
            <a:ext cx="3295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965" b="1" dirty="0">
                <a:solidFill>
                  <a:srgbClr val="4A6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INTEGRATIONS</a:t>
            </a:r>
            <a:endParaRPr lang="en-US" sz="1965" dirty="0"/>
          </a:p>
        </p:txBody>
      </p:sp>
      <p:pic>
        <p:nvPicPr>
          <p:cNvPr id="150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7154525" y="9791700"/>
            <a:ext cx="276225" cy="485775"/>
          </a:xfrm>
          <a:prstGeom prst="rect">
            <a:avLst/>
          </a:prstGeom>
        </p:spPr>
      </p:pic>
      <p:pic>
        <p:nvPicPr>
          <p:cNvPr id="15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573125" y="9944100"/>
            <a:ext cx="171450" cy="942975"/>
          </a:xfrm>
          <a:prstGeom prst="rect">
            <a:avLst/>
          </a:prstGeom>
        </p:spPr>
      </p:pic>
      <p:pic>
        <p:nvPicPr>
          <p:cNvPr id="152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896850" y="9972675"/>
            <a:ext cx="247650" cy="952500"/>
          </a:xfrm>
          <a:prstGeom prst="rect">
            <a:avLst/>
          </a:prstGeom>
        </p:spPr>
      </p:pic>
      <p:pic>
        <p:nvPicPr>
          <p:cNvPr id="15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296525" y="9944100"/>
            <a:ext cx="219075" cy="333375"/>
          </a:xfrm>
          <a:prstGeom prst="rect">
            <a:avLst/>
          </a:prstGeom>
        </p:spPr>
      </p:pic>
      <p:pic>
        <p:nvPicPr>
          <p:cNvPr id="154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429625" y="9953625"/>
            <a:ext cx="228600" cy="971550"/>
          </a:xfrm>
          <a:prstGeom prst="rect">
            <a:avLst/>
          </a:prstGeom>
        </p:spPr>
      </p:pic>
      <p:pic>
        <p:nvPicPr>
          <p:cNvPr id="155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019925" y="9810750"/>
            <a:ext cx="257175" cy="457200"/>
          </a:xfrm>
          <a:prstGeom prst="rect">
            <a:avLst/>
          </a:prstGeom>
        </p:spPr>
      </p:pic>
      <p:pic>
        <p:nvPicPr>
          <p:cNvPr id="156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105525" y="10029825"/>
            <a:ext cx="228600" cy="1562100"/>
          </a:xfrm>
          <a:prstGeom prst="rect">
            <a:avLst/>
          </a:prstGeom>
        </p:spPr>
      </p:pic>
      <p:pic>
        <p:nvPicPr>
          <p:cNvPr id="157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295650" y="9782175"/>
            <a:ext cx="276225" cy="485775"/>
          </a:xfrm>
          <a:prstGeom prst="rect">
            <a:avLst/>
          </a:prstGeom>
        </p:spPr>
      </p:pic>
      <p:pic>
        <p:nvPicPr>
          <p:cNvPr id="158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287000" y="6591300"/>
            <a:ext cx="219075" cy="390525"/>
          </a:xfrm>
          <a:prstGeom prst="rect">
            <a:avLst/>
          </a:prstGeom>
        </p:spPr>
      </p:pic>
      <p:sp>
        <p:nvSpPr>
          <p:cNvPr id="159" name="Shape 107"/>
          <p:cNvSpPr/>
          <p:nvPr/>
        </p:nvSpPr>
        <p:spPr>
          <a:xfrm>
            <a:off x="1504950" y="5876925"/>
            <a:ext cx="17687925" cy="704850"/>
          </a:xfrm>
          <a:prstGeom prst="roundRect">
            <a:avLst>
              <a:gd name="adj" fmla="val 24324"/>
            </a:avLst>
          </a:prstGeom>
          <a:solidFill>
            <a:srgbClr val="F7F7F7"/>
          </a:solidFill>
          <a:ln w="38100">
            <a:solidFill>
              <a:srgbClr val="6A9074"/>
            </a:solidFill>
            <a:prstDash val="solid"/>
          </a:ln>
        </p:spPr>
      </p:sp>
      <p:pic>
        <p:nvPicPr>
          <p:cNvPr id="160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076950" y="6038850"/>
            <a:ext cx="342900" cy="390525"/>
          </a:xfrm>
          <a:prstGeom prst="rect">
            <a:avLst/>
          </a:prstGeom>
        </p:spPr>
      </p:pic>
      <p:sp>
        <p:nvSpPr>
          <p:cNvPr id="161" name="Text 108"/>
          <p:cNvSpPr/>
          <p:nvPr/>
        </p:nvSpPr>
        <p:spPr>
          <a:xfrm>
            <a:off x="6600825" y="6029325"/>
            <a:ext cx="7591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092" dirty="0">
                <a:solidFill>
                  <a:srgbClr val="84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JTN Auth · Rate Limiting · CORS · Helmet · Zod Validation</a:t>
            </a:r>
            <a:endParaRPr lang="en-US" sz="2092" dirty="0"/>
          </a:p>
        </p:txBody>
      </p:sp>
      <p:sp>
        <p:nvSpPr>
          <p:cNvPr id="162" name="Text 109"/>
          <p:cNvSpPr/>
          <p:nvPr/>
        </p:nvSpPr>
        <p:spPr>
          <a:xfrm>
            <a:off x="3590925" y="5486400"/>
            <a:ext cx="14001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17"/>
              </a:lnSpc>
              <a:buNone/>
            </a:pPr>
            <a:r>
              <a:rPr lang="en-US" sz="2046" dirty="0">
                <a:solidFill>
                  <a:srgbClr val="686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(Express.js)</a:t>
            </a:r>
            <a:endParaRPr lang="en-US" sz="2046" dirty="0"/>
          </a:p>
        </p:txBody>
      </p:sp>
      <p:sp>
        <p:nvSpPr>
          <p:cNvPr id="163" name="Text 110"/>
          <p:cNvSpPr/>
          <p:nvPr/>
        </p:nvSpPr>
        <p:spPr>
          <a:xfrm>
            <a:off x="1504950" y="5467350"/>
            <a:ext cx="2019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2303" b="1" dirty="0">
                <a:solidFill>
                  <a:srgbClr val="5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APIGATEWAY</a:t>
            </a:r>
            <a:endParaRPr lang="en-US" sz="2303" dirty="0"/>
          </a:p>
        </p:txBody>
      </p:sp>
      <p:sp>
        <p:nvSpPr>
          <p:cNvPr id="164" name="Shape 111"/>
          <p:cNvSpPr/>
          <p:nvPr/>
        </p:nvSpPr>
        <p:spPr>
          <a:xfrm>
            <a:off x="1143000" y="2743200"/>
            <a:ext cx="18364200" cy="2638425"/>
          </a:xfrm>
          <a:prstGeom prst="roundRect">
            <a:avLst>
              <a:gd name="adj" fmla="val 4242"/>
            </a:avLst>
          </a:prstGeom>
          <a:solidFill>
            <a:srgbClr val="F5F6F6"/>
          </a:solidFill>
          <a:ln w="9525">
            <a:solidFill>
              <a:srgbClr val="DADDDC"/>
            </a:solidFill>
            <a:prstDash val="solid"/>
          </a:ln>
        </p:spPr>
      </p:sp>
      <p:sp>
        <p:nvSpPr>
          <p:cNvPr id="165" name="Shape 112"/>
          <p:cNvSpPr/>
          <p:nvPr/>
        </p:nvSpPr>
        <p:spPr>
          <a:xfrm>
            <a:off x="13754100" y="3257550"/>
            <a:ext cx="5419725" cy="1752600"/>
          </a:xfrm>
          <a:prstGeom prst="roundRect">
            <a:avLst>
              <a:gd name="adj" fmla="val 12500"/>
            </a:avLst>
          </a:prstGeom>
          <a:solidFill>
            <a:srgbClr val="F7F7F6"/>
          </a:solidFill>
          <a:ln w="38100">
            <a:solidFill>
              <a:srgbClr val="729C7F"/>
            </a:solidFill>
            <a:prstDash val="solid"/>
          </a:ln>
        </p:spPr>
      </p:sp>
      <p:sp>
        <p:nvSpPr>
          <p:cNvPr id="166" name="Shape 113"/>
          <p:cNvSpPr/>
          <p:nvPr/>
        </p:nvSpPr>
        <p:spPr>
          <a:xfrm>
            <a:off x="17516475" y="4410075"/>
            <a:ext cx="1457325" cy="428625"/>
          </a:xfrm>
          <a:prstGeom prst="roundRect">
            <a:avLst>
              <a:gd name="adj" fmla="val 15556"/>
            </a:avLst>
          </a:prstGeom>
          <a:solidFill>
            <a:srgbClr val="F5F7F5"/>
          </a:solidFill>
          <a:ln w="19050">
            <a:solidFill>
              <a:srgbClr val="D2D5D2"/>
            </a:solidFill>
            <a:prstDash val="solid"/>
          </a:ln>
        </p:spPr>
      </p:sp>
      <p:sp>
        <p:nvSpPr>
          <p:cNvPr id="167" name="Text 114"/>
          <p:cNvSpPr/>
          <p:nvPr/>
        </p:nvSpPr>
        <p:spPr>
          <a:xfrm>
            <a:off x="17659350" y="4514850"/>
            <a:ext cx="1152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63" dirty="0">
                <a:solidFill>
                  <a:srgbClr val="787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Reports</a:t>
            </a:r>
            <a:endParaRPr lang="en-US" sz="1463" dirty="0"/>
          </a:p>
        </p:txBody>
      </p:sp>
      <p:sp>
        <p:nvSpPr>
          <p:cNvPr id="168" name="Shape 115"/>
          <p:cNvSpPr/>
          <p:nvPr/>
        </p:nvSpPr>
        <p:spPr>
          <a:xfrm>
            <a:off x="15621000" y="4410075"/>
            <a:ext cx="1781175" cy="428625"/>
          </a:xfrm>
          <a:prstGeom prst="roundRect">
            <a:avLst>
              <a:gd name="adj" fmla="val 15556"/>
            </a:avLst>
          </a:prstGeom>
          <a:solidFill>
            <a:srgbClr val="F4F6F4"/>
          </a:solidFill>
          <a:ln w="19050">
            <a:solidFill>
              <a:srgbClr val="D3D5D2"/>
            </a:solidFill>
            <a:prstDash val="solid"/>
          </a:ln>
        </p:spPr>
      </p:sp>
      <p:sp>
        <p:nvSpPr>
          <p:cNvPr id="169" name="Text 116"/>
          <p:cNvSpPr/>
          <p:nvPr/>
        </p:nvSpPr>
        <p:spPr>
          <a:xfrm>
            <a:off x="15754350" y="4514850"/>
            <a:ext cx="1533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5"/>
              </a:lnSpc>
              <a:buNone/>
            </a:pPr>
            <a:r>
              <a:rPr lang="en-US" sz="1464" dirty="0">
                <a:solidFill>
                  <a:srgbClr val="7A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Listings</a:t>
            </a:r>
            <a:endParaRPr lang="en-US" sz="1464" dirty="0"/>
          </a:p>
        </p:txBody>
      </p:sp>
      <p:sp>
        <p:nvSpPr>
          <p:cNvPr id="170" name="Shape 117"/>
          <p:cNvSpPr/>
          <p:nvPr/>
        </p:nvSpPr>
        <p:spPr>
          <a:xfrm>
            <a:off x="13973175" y="4410075"/>
            <a:ext cx="1543050" cy="428625"/>
          </a:xfrm>
          <a:prstGeom prst="roundRect">
            <a:avLst>
              <a:gd name="adj" fmla="val 15556"/>
            </a:avLst>
          </a:prstGeom>
          <a:solidFill>
            <a:srgbClr val="F5F7F5"/>
          </a:solidFill>
          <a:ln w="19050">
            <a:solidFill>
              <a:srgbClr val="D4D6D4"/>
            </a:solidFill>
            <a:prstDash val="solid"/>
          </a:ln>
        </p:spPr>
      </p:sp>
      <p:sp>
        <p:nvSpPr>
          <p:cNvPr id="171" name="Text 118"/>
          <p:cNvSpPr/>
          <p:nvPr/>
        </p:nvSpPr>
        <p:spPr>
          <a:xfrm>
            <a:off x="14135100" y="4524375"/>
            <a:ext cx="1228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467" dirty="0">
                <a:solidFill>
                  <a:srgbClr val="787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Users</a:t>
            </a:r>
            <a:endParaRPr lang="en-US" sz="1467" dirty="0"/>
          </a:p>
        </p:txBody>
      </p:sp>
      <p:pic>
        <p:nvPicPr>
          <p:cNvPr id="172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6221075" y="3409950"/>
            <a:ext cx="485775" cy="457200"/>
          </a:xfrm>
          <a:prstGeom prst="rect">
            <a:avLst/>
          </a:prstGeom>
        </p:spPr>
      </p:pic>
      <p:sp>
        <p:nvSpPr>
          <p:cNvPr id="173" name="Text 119"/>
          <p:cNvSpPr/>
          <p:nvPr/>
        </p:nvSpPr>
        <p:spPr>
          <a:xfrm>
            <a:off x="14906625" y="3914775"/>
            <a:ext cx="3162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055" dirty="0">
                <a:solidFill>
                  <a:srgbClr val="595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 (React+Vite)</a:t>
            </a:r>
            <a:endParaRPr lang="en-US" sz="2055" dirty="0"/>
          </a:p>
        </p:txBody>
      </p:sp>
      <p:sp>
        <p:nvSpPr>
          <p:cNvPr id="174" name="Shape 120"/>
          <p:cNvSpPr/>
          <p:nvPr/>
        </p:nvSpPr>
        <p:spPr>
          <a:xfrm>
            <a:off x="7620000" y="3257550"/>
            <a:ext cx="5534025" cy="1752600"/>
          </a:xfrm>
          <a:prstGeom prst="roundRect">
            <a:avLst>
              <a:gd name="adj" fmla="val 11957"/>
            </a:avLst>
          </a:prstGeom>
          <a:solidFill>
            <a:srgbClr val="F7F7F7"/>
          </a:solidFill>
          <a:ln w="38100">
            <a:solidFill>
              <a:srgbClr val="709A7D"/>
            </a:solidFill>
            <a:prstDash val="solid"/>
          </a:ln>
        </p:spPr>
      </p:sp>
      <p:sp>
        <p:nvSpPr>
          <p:cNvPr id="175" name="Shape 121"/>
          <p:cNvSpPr/>
          <p:nvPr/>
        </p:nvSpPr>
        <p:spPr>
          <a:xfrm>
            <a:off x="11068050" y="4410075"/>
            <a:ext cx="1924050" cy="428625"/>
          </a:xfrm>
          <a:prstGeom prst="roundRect">
            <a:avLst>
              <a:gd name="adj" fmla="val 15556"/>
            </a:avLst>
          </a:prstGeom>
          <a:solidFill>
            <a:srgbClr val="F5F7F6"/>
          </a:solidFill>
          <a:ln w="9525">
            <a:solidFill>
              <a:srgbClr val="D5D7D5"/>
            </a:solidFill>
            <a:prstDash val="solid"/>
          </a:ln>
        </p:spPr>
      </p:sp>
      <p:sp>
        <p:nvSpPr>
          <p:cNvPr id="176" name="Text 122"/>
          <p:cNvSpPr/>
          <p:nvPr/>
        </p:nvSpPr>
        <p:spPr>
          <a:xfrm>
            <a:off x="11191875" y="4524375"/>
            <a:ext cx="1704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F8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Integration</a:t>
            </a:r>
            <a:endParaRPr lang="en-US" sz="1440" dirty="0"/>
          </a:p>
        </p:txBody>
      </p:sp>
      <p:sp>
        <p:nvSpPr>
          <p:cNvPr id="177" name="Shape 123"/>
          <p:cNvSpPr/>
          <p:nvPr/>
        </p:nvSpPr>
        <p:spPr>
          <a:xfrm>
            <a:off x="9639300" y="4410075"/>
            <a:ext cx="1333500" cy="428625"/>
          </a:xfrm>
          <a:prstGeom prst="roundRect">
            <a:avLst>
              <a:gd name="adj" fmla="val 15556"/>
            </a:avLst>
          </a:prstGeom>
          <a:solidFill>
            <a:srgbClr val="F5F7F4"/>
          </a:solidFill>
          <a:ln w="9525">
            <a:solidFill>
              <a:srgbClr val="D4D8D4"/>
            </a:solidFill>
            <a:prstDash val="solid"/>
          </a:ln>
        </p:spPr>
      </p:sp>
      <p:sp>
        <p:nvSpPr>
          <p:cNvPr id="178" name="Text 124"/>
          <p:cNvSpPr/>
          <p:nvPr/>
        </p:nvSpPr>
        <p:spPr>
          <a:xfrm>
            <a:off x="9763125" y="4524375"/>
            <a:ext cx="1085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238" dirty="0">
                <a:solidFill>
                  <a:srgbClr val="888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Orders</a:t>
            </a:r>
            <a:endParaRPr lang="en-US" sz="1238" dirty="0"/>
          </a:p>
        </p:txBody>
      </p:sp>
      <p:sp>
        <p:nvSpPr>
          <p:cNvPr id="179" name="Shape 125"/>
          <p:cNvSpPr/>
          <p:nvPr/>
        </p:nvSpPr>
        <p:spPr>
          <a:xfrm>
            <a:off x="7829550" y="4410075"/>
            <a:ext cx="1704975" cy="428625"/>
          </a:xfrm>
          <a:prstGeom prst="roundRect">
            <a:avLst>
              <a:gd name="adj" fmla="val 15556"/>
            </a:avLst>
          </a:prstGeom>
          <a:solidFill>
            <a:srgbClr val="F5F7F5"/>
          </a:solidFill>
          <a:ln w="19050">
            <a:solidFill>
              <a:srgbClr val="D2D5D2"/>
            </a:solidFill>
            <a:prstDash val="solid"/>
          </a:ln>
        </p:spPr>
      </p:sp>
      <p:sp>
        <p:nvSpPr>
          <p:cNvPr id="180" name="Text 126"/>
          <p:cNvSpPr/>
          <p:nvPr/>
        </p:nvSpPr>
        <p:spPr>
          <a:xfrm>
            <a:off x="7972425" y="451485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238" dirty="0">
                <a:solidFill>
                  <a:srgbClr val="85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&amp; Search</a:t>
            </a:r>
            <a:endParaRPr lang="en-US" sz="1238" dirty="0"/>
          </a:p>
        </p:txBody>
      </p:sp>
      <p:pic>
        <p:nvPicPr>
          <p:cNvPr id="181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172700" y="3409950"/>
            <a:ext cx="581025" cy="457200"/>
          </a:xfrm>
          <a:prstGeom prst="rect">
            <a:avLst/>
          </a:prstGeom>
        </p:spPr>
      </p:pic>
      <p:sp>
        <p:nvSpPr>
          <p:cNvPr id="182" name="Text 127"/>
          <p:cNvSpPr/>
          <p:nvPr/>
        </p:nvSpPr>
        <p:spPr>
          <a:xfrm>
            <a:off x="8982075" y="3886200"/>
            <a:ext cx="28765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010" dirty="0">
                <a:solidFill>
                  <a:srgbClr val="636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App (React+Vite)</a:t>
            </a:r>
            <a:endParaRPr lang="en-US" sz="2010" dirty="0"/>
          </a:p>
        </p:txBody>
      </p:sp>
      <p:pic>
        <p:nvPicPr>
          <p:cNvPr id="18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305300" y="5010150"/>
            <a:ext cx="285750" cy="361950"/>
          </a:xfrm>
          <a:prstGeom prst="rect">
            <a:avLst/>
          </a:prstGeom>
        </p:spPr>
      </p:pic>
      <p:sp>
        <p:nvSpPr>
          <p:cNvPr id="184" name="Shape 128"/>
          <p:cNvSpPr/>
          <p:nvPr/>
        </p:nvSpPr>
        <p:spPr>
          <a:xfrm>
            <a:off x="1485900" y="3257550"/>
            <a:ext cx="5524500" cy="1752600"/>
          </a:xfrm>
          <a:prstGeom prst="roundRect">
            <a:avLst>
              <a:gd name="adj" fmla="val 12500"/>
            </a:avLst>
          </a:prstGeom>
          <a:solidFill>
            <a:srgbClr val="F6F6F5"/>
          </a:solidFill>
          <a:ln w="38100">
            <a:solidFill>
              <a:srgbClr val="6E977B"/>
            </a:solidFill>
            <a:prstDash val="solid"/>
          </a:ln>
        </p:spPr>
      </p:sp>
      <p:sp>
        <p:nvSpPr>
          <p:cNvPr id="185" name="Shape 129"/>
          <p:cNvSpPr/>
          <p:nvPr/>
        </p:nvSpPr>
        <p:spPr>
          <a:xfrm>
            <a:off x="5076825" y="4410075"/>
            <a:ext cx="1762125" cy="428625"/>
          </a:xfrm>
          <a:prstGeom prst="roundRect">
            <a:avLst>
              <a:gd name="adj" fmla="val 15556"/>
            </a:avLst>
          </a:prstGeom>
          <a:solidFill>
            <a:srgbClr val="F4F7F5"/>
          </a:solidFill>
          <a:ln w="9525">
            <a:solidFill>
              <a:srgbClr val="D1D3D1"/>
            </a:solidFill>
            <a:prstDash val="solid"/>
          </a:ln>
        </p:spPr>
      </p:sp>
      <p:sp>
        <p:nvSpPr>
          <p:cNvPr id="186" name="Text 130"/>
          <p:cNvSpPr/>
          <p:nvPr/>
        </p:nvSpPr>
        <p:spPr>
          <a:xfrm>
            <a:off x="5219700" y="4514850"/>
            <a:ext cx="1504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418" dirty="0">
                <a:solidFill>
                  <a:srgbClr val="808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 Integration</a:t>
            </a:r>
            <a:endParaRPr lang="en-US" sz="1418" dirty="0"/>
          </a:p>
        </p:txBody>
      </p:sp>
      <p:sp>
        <p:nvSpPr>
          <p:cNvPr id="187" name="Shape 131"/>
          <p:cNvSpPr/>
          <p:nvPr/>
        </p:nvSpPr>
        <p:spPr>
          <a:xfrm>
            <a:off x="3457575" y="4410075"/>
            <a:ext cx="1514475" cy="428625"/>
          </a:xfrm>
          <a:prstGeom prst="roundRect">
            <a:avLst>
              <a:gd name="adj" fmla="val 15556"/>
            </a:avLst>
          </a:prstGeom>
          <a:solidFill>
            <a:srgbClr val="F4F6F3"/>
          </a:solidFill>
          <a:ln w="19050">
            <a:solidFill>
              <a:srgbClr val="D1D3D0"/>
            </a:solidFill>
            <a:prstDash val="solid"/>
          </a:ln>
        </p:spPr>
      </p:sp>
      <p:sp>
        <p:nvSpPr>
          <p:cNvPr id="188" name="Text 132"/>
          <p:cNvSpPr/>
          <p:nvPr/>
        </p:nvSpPr>
        <p:spPr>
          <a:xfrm>
            <a:off x="3581400" y="4524375"/>
            <a:ext cx="1276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485" dirty="0">
                <a:solidFill>
                  <a:srgbClr val="74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Analytics</a:t>
            </a:r>
            <a:endParaRPr lang="en-US" sz="1485" dirty="0"/>
          </a:p>
        </p:txBody>
      </p:sp>
      <p:sp>
        <p:nvSpPr>
          <p:cNvPr id="189" name="Shape 133"/>
          <p:cNvSpPr/>
          <p:nvPr/>
        </p:nvSpPr>
        <p:spPr>
          <a:xfrm>
            <a:off x="1685925" y="4410075"/>
            <a:ext cx="1666875" cy="428625"/>
          </a:xfrm>
          <a:prstGeom prst="roundRect">
            <a:avLst>
              <a:gd name="adj" fmla="val 15556"/>
            </a:avLst>
          </a:prstGeom>
          <a:solidFill>
            <a:srgbClr val="F3F6F4"/>
          </a:solidFill>
          <a:ln w="19050">
            <a:solidFill>
              <a:srgbClr val="D1D4D1"/>
            </a:solidFill>
            <a:prstDash val="solid"/>
          </a:ln>
        </p:spPr>
      </p:sp>
      <p:sp>
        <p:nvSpPr>
          <p:cNvPr id="190" name="Text 134"/>
          <p:cNvSpPr/>
          <p:nvPr/>
        </p:nvSpPr>
        <p:spPr>
          <a:xfrm>
            <a:off x="1838325" y="4524375"/>
            <a:ext cx="1400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6"/>
              </a:lnSpc>
              <a:buNone/>
            </a:pPr>
            <a:r>
              <a:rPr lang="en-US" sz="1456" dirty="0">
                <a:solidFill>
                  <a:srgbClr val="757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Listings</a:t>
            </a:r>
            <a:endParaRPr lang="en-US" sz="1456" dirty="0"/>
          </a:p>
        </p:txBody>
      </p:sp>
      <p:pic>
        <p:nvPicPr>
          <p:cNvPr id="191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191000" y="3390900"/>
            <a:ext cx="333375" cy="476250"/>
          </a:xfrm>
          <a:prstGeom prst="rect">
            <a:avLst/>
          </a:prstGeom>
        </p:spPr>
      </p:pic>
      <p:sp>
        <p:nvSpPr>
          <p:cNvPr id="192" name="Text 135"/>
          <p:cNvSpPr/>
          <p:nvPr/>
        </p:nvSpPr>
        <p:spPr>
          <a:xfrm>
            <a:off x="2743200" y="3914775"/>
            <a:ext cx="30575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010" dirty="0">
                <a:solidFill>
                  <a:srgbClr val="585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App (React+Vite)</a:t>
            </a:r>
            <a:endParaRPr lang="en-US" sz="2010" dirty="0"/>
          </a:p>
        </p:txBody>
      </p:sp>
      <p:sp>
        <p:nvSpPr>
          <p:cNvPr id="193" name="Text 136"/>
          <p:cNvSpPr/>
          <p:nvPr/>
        </p:nvSpPr>
        <p:spPr>
          <a:xfrm>
            <a:off x="1504950" y="2809875"/>
            <a:ext cx="2066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2115" b="1" dirty="0">
                <a:solidFill>
                  <a:srgbClr val="557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</a:t>
            </a:r>
            <a:endParaRPr lang="en-US" sz="2115" dirty="0"/>
          </a:p>
        </p:txBody>
      </p:sp>
      <p:pic>
        <p:nvPicPr>
          <p:cNvPr id="194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6173450" y="5010150"/>
            <a:ext cx="219075" cy="838200"/>
          </a:xfrm>
          <a:prstGeom prst="rect">
            <a:avLst/>
          </a:prstGeom>
        </p:spPr>
      </p:pic>
      <p:pic>
        <p:nvPicPr>
          <p:cNvPr id="195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0277475" y="5010150"/>
            <a:ext cx="228600" cy="828675"/>
          </a:xfrm>
          <a:prstGeom prst="rect">
            <a:avLst/>
          </a:prstGeom>
        </p:spPr>
      </p:pic>
      <p:pic>
        <p:nvPicPr>
          <p:cNvPr id="196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276975" y="1571625"/>
            <a:ext cx="14144625" cy="38100"/>
          </a:xfrm>
          <a:prstGeom prst="rect">
            <a:avLst/>
          </a:prstGeom>
        </p:spPr>
      </p:pic>
      <p:pic>
        <p:nvPicPr>
          <p:cNvPr id="197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52450" y="381000"/>
            <a:ext cx="3048000" cy="790575"/>
          </a:xfrm>
          <a:prstGeom prst="rect">
            <a:avLst/>
          </a:prstGeom>
        </p:spPr>
      </p:pic>
      <p:sp>
        <p:nvSpPr>
          <p:cNvPr id="198" name="Text 137"/>
          <p:cNvSpPr/>
          <p:nvPr/>
        </p:nvSpPr>
        <p:spPr>
          <a:xfrm>
            <a:off x="914400" y="447675"/>
            <a:ext cx="229552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71"/>
              </a:lnSpc>
              <a:buNone/>
            </a:pPr>
            <a:r>
              <a:rPr lang="en-US" sz="1755" dirty="0">
                <a:solidFill>
                  <a:srgbClr val="8F9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755" dirty="0"/>
          </a:p>
          <a:p>
            <a:pPr algn="l" indent="0" marL="0">
              <a:lnSpc>
                <a:spcPts val="2071"/>
              </a:lnSpc>
              <a:buNone/>
            </a:pPr>
            <a:r>
              <a:rPr lang="en-US" sz="1755" dirty="0">
                <a:solidFill>
                  <a:srgbClr val="8F9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HACKATATOP2024</a:t>
            </a:r>
            <a:endParaRPr lang="en-US" sz="1755" dirty="0"/>
          </a:p>
        </p:txBody>
      </p:sp>
      <p:sp>
        <p:nvSpPr>
          <p:cNvPr id="199" name="Text 138"/>
          <p:cNvSpPr/>
          <p:nvPr/>
        </p:nvSpPr>
        <p:spPr>
          <a:xfrm>
            <a:off x="8610600" y="1790700"/>
            <a:ext cx="94964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813" dirty="0">
                <a:solidFill>
                  <a:srgbClr val="626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Infrastructure · MERN Stack · Microservices Ready</a:t>
            </a:r>
            <a:endParaRPr lang="en-US" sz="2813" dirty="0"/>
          </a:p>
        </p:txBody>
      </p:sp>
      <p:sp>
        <p:nvSpPr>
          <p:cNvPr id="200" name="Text 139"/>
          <p:cNvSpPr/>
          <p:nvPr/>
        </p:nvSpPr>
        <p:spPr>
          <a:xfrm>
            <a:off x="6296025" y="752475"/>
            <a:ext cx="141541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25"/>
              </a:lnSpc>
              <a:buNone/>
            </a:pPr>
            <a:r>
              <a:rPr lang="en-US" sz="5768" b="1" dirty="0">
                <a:solidFill>
                  <a:srgbClr val="377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Scale, Designed for Farmers</a:t>
            </a:r>
            <a:endParaRPr lang="en-US" sz="576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6822400" cy="1508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50125" y="10934700"/>
            <a:ext cx="5629275" cy="3409950"/>
          </a:xfrm>
          <a:prstGeom prst="roundRect">
            <a:avLst>
              <a:gd name="adj" fmla="val 10335"/>
            </a:avLst>
          </a:prstGeom>
          <a:solidFill>
            <a:srgbClr val="F6F6F7"/>
          </a:solidFill>
          <a:ln w="9525">
            <a:solidFill>
              <a:srgbClr val="E9F6E9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2575" y="13716000"/>
            <a:ext cx="342900" cy="2667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100" y="13192125"/>
            <a:ext cx="333375" cy="24765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2100" y="12639675"/>
            <a:ext cx="333375" cy="25717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2575" y="12096750"/>
            <a:ext cx="342900" cy="25717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35900" y="11258550"/>
            <a:ext cx="571500" cy="56197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1126450" y="13620750"/>
            <a:ext cx="36480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378" dirty="0">
                <a:solidFill>
                  <a:srgbClr val="555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AGMARKNET Integration</a:t>
            </a:r>
            <a:endParaRPr lang="en-US" sz="2378" dirty="0"/>
          </a:p>
        </p:txBody>
      </p:sp>
      <p:sp>
        <p:nvSpPr>
          <p:cNvPr id="10" name="Text 2"/>
          <p:cNvSpPr/>
          <p:nvPr/>
        </p:nvSpPr>
        <p:spPr>
          <a:xfrm>
            <a:off x="21145500" y="13096875"/>
            <a:ext cx="38957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438" dirty="0">
                <a:solidFill>
                  <a:srgbClr val="6F6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Doubling Farmers' Income</a:t>
            </a:r>
            <a:endParaRPr lang="en-US" sz="2438" dirty="0"/>
          </a:p>
        </p:txBody>
      </p:sp>
      <p:sp>
        <p:nvSpPr>
          <p:cNvPr id="11" name="Text 3"/>
          <p:cNvSpPr/>
          <p:nvPr/>
        </p:nvSpPr>
        <p:spPr>
          <a:xfrm>
            <a:off x="21126450" y="12553950"/>
            <a:ext cx="30289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610" dirty="0">
                <a:solidFill>
                  <a:srgbClr val="5C5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AtmanirbharBharat</a:t>
            </a:r>
            <a:endParaRPr lang="en-US" sz="2610" dirty="0"/>
          </a:p>
        </p:txBody>
      </p:sp>
      <p:sp>
        <p:nvSpPr>
          <p:cNvPr id="12" name="Text 4"/>
          <p:cNvSpPr/>
          <p:nvPr/>
        </p:nvSpPr>
        <p:spPr>
          <a:xfrm>
            <a:off x="21145500" y="12011025"/>
            <a:ext cx="18192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505" dirty="0">
                <a:solidFill>
                  <a:srgbClr val="5C5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India</a:t>
            </a:r>
            <a:endParaRPr lang="en-US" sz="2505" dirty="0"/>
          </a:p>
        </p:txBody>
      </p:sp>
      <p:sp>
        <p:nvSpPr>
          <p:cNvPr id="13" name="Text 5"/>
          <p:cNvSpPr/>
          <p:nvPr/>
        </p:nvSpPr>
        <p:spPr>
          <a:xfrm>
            <a:off x="21316950" y="11277600"/>
            <a:ext cx="3371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278" b="1" dirty="0">
                <a:solidFill>
                  <a:srgbClr val="3B9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Govt. Alignment</a:t>
            </a:r>
            <a:endParaRPr lang="en-US" sz="3278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10934700"/>
            <a:ext cx="18411825" cy="3419475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02125" y="13163550"/>
            <a:ext cx="19050" cy="314325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20700" y="13049250"/>
            <a:ext cx="428625" cy="552450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34850" y="13154025"/>
            <a:ext cx="28575" cy="342900"/>
          </a:xfrm>
          <a:prstGeom prst="rect">
            <a:avLst/>
          </a:prstGeom>
        </p:spPr>
      </p:pic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8100" y="13058775"/>
            <a:ext cx="428625" cy="542925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13201650"/>
            <a:ext cx="28575" cy="304800"/>
          </a:xfrm>
          <a:prstGeom prst="rect">
            <a:avLst/>
          </a:prstGeom>
        </p:spPr>
      </p:pic>
      <p:sp>
        <p:nvSpPr>
          <p:cNvPr id="20" name="Shape 6"/>
          <p:cNvSpPr/>
          <p:nvPr/>
        </p:nvSpPr>
        <p:spPr>
          <a:xfrm>
            <a:off x="15078075" y="12039600"/>
            <a:ext cx="1990725" cy="609600"/>
          </a:xfrm>
          <a:prstGeom prst="roundRect">
            <a:avLst>
              <a:gd name="adj" fmla="val 46875"/>
            </a:avLst>
          </a:prstGeom>
          <a:solidFill>
            <a:srgbClr val="156A3A"/>
          </a:solidFill>
          <a:ln w="9525">
            <a:solidFill>
              <a:srgbClr val="2A6C45"/>
            </a:solidFill>
            <a:prstDash val="solid"/>
          </a:ln>
        </p:spPr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535400" y="12211050"/>
            <a:ext cx="190500" cy="276225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15420975" y="12144375"/>
            <a:ext cx="1038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663" b="1" dirty="0">
                <a:solidFill>
                  <a:srgbClr val="B4D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2663" dirty="0"/>
          </a:p>
        </p:txBody>
      </p:sp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373225" y="12544425"/>
            <a:ext cx="342900" cy="266700"/>
          </a:xfrm>
          <a:prstGeom prst="rect">
            <a:avLst/>
          </a:prstGeom>
        </p:spPr>
      </p:pic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48725" y="12553950"/>
            <a:ext cx="381000" cy="285750"/>
          </a:xfrm>
          <a:prstGeom prst="rect">
            <a:avLst/>
          </a:prstGeom>
        </p:spPr>
      </p:pic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30025" y="12411075"/>
            <a:ext cx="1304925" cy="38100"/>
          </a:xfrm>
          <a:prstGeom prst="rect">
            <a:avLst/>
          </a:prstGeom>
        </p:spPr>
      </p:pic>
      <p:sp>
        <p:nvSpPr>
          <p:cNvPr id="26" name="Shape 8"/>
          <p:cNvSpPr/>
          <p:nvPr/>
        </p:nvSpPr>
        <p:spPr>
          <a:xfrm>
            <a:off x="9620250" y="12039600"/>
            <a:ext cx="1981200" cy="609600"/>
          </a:xfrm>
          <a:prstGeom prst="roundRect">
            <a:avLst>
              <a:gd name="adj" fmla="val 46875"/>
            </a:avLst>
          </a:prstGeom>
          <a:solidFill>
            <a:srgbClr val="156A3A"/>
          </a:solidFill>
          <a:ln w="9525">
            <a:solidFill>
              <a:srgbClr val="2A6C46"/>
            </a:solidFill>
            <a:prstDash val="solid"/>
          </a:ln>
        </p:spPr>
      </p:sp>
      <p:pic>
        <p:nvPicPr>
          <p:cNvPr id="2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68050" y="12201525"/>
            <a:ext cx="190500" cy="276225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9963150" y="12134850"/>
            <a:ext cx="10382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213" b="1" dirty="0">
                <a:solidFill>
                  <a:srgbClr val="B7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2213" dirty="0"/>
          </a:p>
        </p:txBody>
      </p:sp>
      <p:pic>
        <p:nvPicPr>
          <p:cNvPr id="2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29100" y="12172950"/>
            <a:ext cx="1933575" cy="609600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4572000" y="12287250"/>
            <a:ext cx="10382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708" b="1" dirty="0">
                <a:solidFill>
                  <a:srgbClr val="B2C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2708" dirty="0"/>
          </a:p>
        </p:txBody>
      </p:sp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04975" y="11268075"/>
            <a:ext cx="504825" cy="647700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17145000" y="13106400"/>
            <a:ext cx="1133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355" dirty="0">
                <a:solidFill>
                  <a:srgbClr val="5E5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states</a:t>
            </a:r>
            <a:endParaRPr lang="en-US" sz="2355" dirty="0"/>
          </a:p>
        </p:txBody>
      </p:sp>
      <p:sp>
        <p:nvSpPr>
          <p:cNvPr id="33" name="Text 12"/>
          <p:cNvSpPr/>
          <p:nvPr/>
        </p:nvSpPr>
        <p:spPr>
          <a:xfrm>
            <a:off x="15116175" y="13096875"/>
            <a:ext cx="1809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423" b="1" dirty="0">
                <a:solidFill>
                  <a:srgbClr val="313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1M+</a:t>
            </a:r>
            <a:pPr algn="l" indent="0" marL="0">
              <a:lnSpc>
                <a:spcPts val="1950"/>
              </a:lnSpc>
              <a:buNone/>
            </a:pPr>
            <a:r>
              <a:rPr lang="en-US" sz="2423" dirty="0">
                <a:solidFill>
                  <a:srgbClr val="5A5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</a:t>
            </a:r>
            <a:endParaRPr lang="en-US" sz="2423" dirty="0"/>
          </a:p>
        </p:txBody>
      </p:sp>
      <p:sp>
        <p:nvSpPr>
          <p:cNvPr id="34" name="Text 13"/>
          <p:cNvSpPr/>
          <p:nvPr/>
        </p:nvSpPr>
        <p:spPr>
          <a:xfrm>
            <a:off x="12268200" y="13125450"/>
            <a:ext cx="8953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2239" dirty="0">
                <a:solidFill>
                  <a:srgbClr val="5B5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state</a:t>
            </a:r>
            <a:endParaRPr lang="en-US" sz="2239" dirty="0"/>
          </a:p>
        </p:txBody>
      </p:sp>
      <p:sp>
        <p:nvSpPr>
          <p:cNvPr id="35" name="Text 14"/>
          <p:cNvSpPr/>
          <p:nvPr/>
        </p:nvSpPr>
        <p:spPr>
          <a:xfrm>
            <a:off x="10953750" y="13106400"/>
            <a:ext cx="11144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53"/>
              </a:lnSpc>
              <a:buNone/>
            </a:pPr>
            <a:r>
              <a:rPr lang="en-US" sz="2437" dirty="0">
                <a:solidFill>
                  <a:srgbClr val="606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</a:t>
            </a:r>
            <a:endParaRPr lang="en-US" sz="2437" dirty="0"/>
          </a:p>
        </p:txBody>
      </p:sp>
      <p:sp>
        <p:nvSpPr>
          <p:cNvPr id="36" name="Text 15"/>
          <p:cNvSpPr/>
          <p:nvPr/>
        </p:nvSpPr>
        <p:spPr>
          <a:xfrm>
            <a:off x="9648825" y="13087350"/>
            <a:ext cx="1247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8"/>
              </a:lnSpc>
              <a:buNone/>
            </a:pPr>
            <a:r>
              <a:rPr lang="en-US" sz="2671" dirty="0">
                <a:solidFill>
                  <a:srgbClr val="41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2671" dirty="0"/>
          </a:p>
        </p:txBody>
      </p:sp>
      <p:sp>
        <p:nvSpPr>
          <p:cNvPr id="37" name="Text 16"/>
          <p:cNvSpPr/>
          <p:nvPr/>
        </p:nvSpPr>
        <p:spPr>
          <a:xfrm>
            <a:off x="5381625" y="13154025"/>
            <a:ext cx="21717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2123" dirty="0">
                <a:solidFill>
                  <a:srgbClr val="626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1 district</a:t>
            </a:r>
            <a:endParaRPr lang="en-US" sz="2123" dirty="0"/>
          </a:p>
        </p:txBody>
      </p:sp>
      <p:sp>
        <p:nvSpPr>
          <p:cNvPr id="38" name="Text 17"/>
          <p:cNvSpPr/>
          <p:nvPr/>
        </p:nvSpPr>
        <p:spPr>
          <a:xfrm>
            <a:off x="4333875" y="13125450"/>
            <a:ext cx="9906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60" dirty="0">
                <a:solidFill>
                  <a:srgbClr val="434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2460" dirty="0"/>
          </a:p>
        </p:txBody>
      </p:sp>
      <p:sp>
        <p:nvSpPr>
          <p:cNvPr id="39" name="Text 18"/>
          <p:cNvSpPr/>
          <p:nvPr/>
        </p:nvSpPr>
        <p:spPr>
          <a:xfrm>
            <a:off x="2457450" y="11296650"/>
            <a:ext cx="4562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600" b="1" dirty="0">
                <a:solidFill>
                  <a:srgbClr val="4F9F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Roadmap</a:t>
            </a:r>
            <a:endParaRPr lang="en-US" sz="3600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840325" y="4848225"/>
            <a:ext cx="7839075" cy="5657850"/>
          </a:xfrm>
          <a:prstGeom prst="rect">
            <a:avLst/>
          </a:prstGeom>
        </p:spPr>
      </p:pic>
      <p:pic>
        <p:nvPicPr>
          <p:cNvPr id="4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783175" y="7972425"/>
            <a:ext cx="7905750" cy="2524125"/>
          </a:xfrm>
          <a:prstGeom prst="rect">
            <a:avLst/>
          </a:prstGeom>
        </p:spPr>
      </p:pic>
      <p:pic>
        <p:nvPicPr>
          <p:cNvPr id="4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649950" y="8001000"/>
            <a:ext cx="666750" cy="638175"/>
          </a:xfrm>
          <a:prstGeom prst="rect">
            <a:avLst/>
          </a:prstGeom>
        </p:spPr>
      </p:pic>
      <p:sp>
        <p:nvSpPr>
          <p:cNvPr id="43" name="Text 19"/>
          <p:cNvSpPr/>
          <p:nvPr/>
        </p:nvSpPr>
        <p:spPr>
          <a:xfrm>
            <a:off x="19535775" y="7181850"/>
            <a:ext cx="49815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sz="2713" dirty="0">
                <a:solidFill>
                  <a:srgbClr val="626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15-20% less post-harvest waste</a:t>
            </a:r>
            <a:endParaRPr lang="en-US" sz="2713" dirty="0"/>
          </a:p>
        </p:txBody>
      </p:sp>
      <p:pic>
        <p:nvPicPr>
          <p:cNvPr id="4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621375" y="7115175"/>
            <a:ext cx="762000" cy="647700"/>
          </a:xfrm>
          <a:prstGeom prst="rect">
            <a:avLst/>
          </a:prstGeom>
        </p:spPr>
      </p:pic>
      <p:sp>
        <p:nvSpPr>
          <p:cNvPr id="45" name="Text 20"/>
          <p:cNvSpPr/>
          <p:nvPr/>
        </p:nvSpPr>
        <p:spPr>
          <a:xfrm>
            <a:off x="19545300" y="6334125"/>
            <a:ext cx="5753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41"/>
              </a:lnSpc>
              <a:buNone/>
            </a:pPr>
            <a:r>
              <a:rPr lang="en-US" sz="2667" dirty="0">
                <a:solidFill>
                  <a:srgbClr val="59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20-30% less fuel via optimized routes</a:t>
            </a:r>
            <a:endParaRPr lang="en-US" sz="2667" dirty="0"/>
          </a:p>
        </p:txBody>
      </p:sp>
      <p:pic>
        <p:nvPicPr>
          <p:cNvPr id="4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507075" y="6343650"/>
            <a:ext cx="866775" cy="533400"/>
          </a:xfrm>
          <a:prstGeom prst="rect">
            <a:avLst/>
          </a:prstGeom>
        </p:spPr>
      </p:pic>
      <p:sp>
        <p:nvSpPr>
          <p:cNvPr id="47" name="Text 21"/>
          <p:cNvSpPr/>
          <p:nvPr/>
        </p:nvSpPr>
        <p:spPr>
          <a:xfrm>
            <a:off x="19440525" y="5295900"/>
            <a:ext cx="50577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705" b="1" dirty="0">
                <a:solidFill>
                  <a:srgbClr val="4DA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3705" dirty="0"/>
          </a:p>
        </p:txBody>
      </p:sp>
      <p:pic>
        <p:nvPicPr>
          <p:cNvPr id="4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535650" y="5305425"/>
            <a:ext cx="647700" cy="638175"/>
          </a:xfrm>
          <a:prstGeom prst="rect">
            <a:avLst/>
          </a:prstGeom>
        </p:spPr>
      </p:pic>
      <p:sp>
        <p:nvSpPr>
          <p:cNvPr id="49" name="Text 22"/>
          <p:cNvSpPr/>
          <p:nvPr/>
        </p:nvSpPr>
        <p:spPr>
          <a:xfrm>
            <a:off x="19535775" y="8039100"/>
            <a:ext cx="5276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640" dirty="0">
                <a:solidFill>
                  <a:srgbClr val="636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10-15% carbon footprint reduction</a:t>
            </a:r>
            <a:endParaRPr lang="en-US" sz="2640" dirty="0"/>
          </a:p>
        </p:txBody>
      </p:sp>
      <p:sp>
        <p:nvSpPr>
          <p:cNvPr id="50" name="Shape 23"/>
          <p:cNvSpPr/>
          <p:nvPr/>
        </p:nvSpPr>
        <p:spPr>
          <a:xfrm>
            <a:off x="9629775" y="4848225"/>
            <a:ext cx="7600950" cy="3943350"/>
          </a:xfrm>
          <a:prstGeom prst="roundRect">
            <a:avLst>
              <a:gd name="adj" fmla="val 4710"/>
            </a:avLst>
          </a:prstGeom>
          <a:solidFill>
            <a:srgbClr val="F9F8FA"/>
          </a:solidFill>
          <a:ln/>
        </p:spPr>
      </p:sp>
      <p:pic>
        <p:nvPicPr>
          <p:cNvPr id="5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72625" y="8782050"/>
            <a:ext cx="7705725" cy="1733550"/>
          </a:xfrm>
          <a:prstGeom prst="rect">
            <a:avLst/>
          </a:prstGeom>
        </p:spPr>
      </p:pic>
      <p:pic>
        <p:nvPicPr>
          <p:cNvPr id="5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77475" y="7943850"/>
            <a:ext cx="1009650" cy="685800"/>
          </a:xfrm>
          <a:prstGeom prst="rect">
            <a:avLst/>
          </a:prstGeom>
        </p:spPr>
      </p:pic>
      <p:pic>
        <p:nvPicPr>
          <p:cNvPr id="5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5600" y="7162800"/>
            <a:ext cx="600075" cy="581025"/>
          </a:xfrm>
          <a:prstGeom prst="rect">
            <a:avLst/>
          </a:prstGeom>
        </p:spPr>
      </p:pic>
      <p:sp>
        <p:nvSpPr>
          <p:cNvPr id="54" name="Text 24"/>
          <p:cNvSpPr/>
          <p:nvPr/>
        </p:nvSpPr>
        <p:spPr>
          <a:xfrm>
            <a:off x="13115925" y="6324600"/>
            <a:ext cx="2733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3113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pPr algn="l" indent="0" marL="0">
              <a:lnSpc>
                <a:spcPts val="2100"/>
              </a:lnSpc>
              <a:buNone/>
            </a:pPr>
            <a:r>
              <a:rPr lang="en-US" sz="2573" dirty="0">
                <a:solidFill>
                  <a:srgbClr val="5E5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</a:t>
            </a:r>
            <a:endParaRPr lang="en-US" sz="2573" dirty="0"/>
          </a:p>
        </p:txBody>
      </p:sp>
      <p:sp>
        <p:nvSpPr>
          <p:cNvPr id="55" name="Text 25"/>
          <p:cNvSpPr/>
          <p:nvPr/>
        </p:nvSpPr>
        <p:spPr>
          <a:xfrm>
            <a:off x="11410950" y="6334125"/>
            <a:ext cx="16192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5"/>
              </a:lnSpc>
              <a:buNone/>
            </a:pPr>
            <a:r>
              <a:rPr lang="en-US" sz="2483" dirty="0">
                <a:solidFill>
                  <a:srgbClr val="5E5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Empowers</a:t>
            </a:r>
            <a:endParaRPr lang="en-US" sz="2483" dirty="0"/>
          </a:p>
        </p:txBody>
      </p:sp>
      <p:pic>
        <p:nvPicPr>
          <p:cNvPr id="5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87025" y="6229350"/>
            <a:ext cx="723900" cy="723900"/>
          </a:xfrm>
          <a:prstGeom prst="rect">
            <a:avLst/>
          </a:prstGeom>
        </p:spPr>
      </p:pic>
      <p:pic>
        <p:nvPicPr>
          <p:cNvPr id="5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258425" y="5276850"/>
            <a:ext cx="885825" cy="628650"/>
          </a:xfrm>
          <a:prstGeom prst="rect">
            <a:avLst/>
          </a:prstGeom>
        </p:spPr>
      </p:pic>
      <p:sp>
        <p:nvSpPr>
          <p:cNvPr id="58" name="Text 26"/>
          <p:cNvSpPr/>
          <p:nvPr/>
        </p:nvSpPr>
        <p:spPr>
          <a:xfrm>
            <a:off x="11420475" y="8039100"/>
            <a:ext cx="5457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265" dirty="0">
                <a:solidFill>
                  <a:srgbClr val="646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FPO and women farmer support</a:t>
            </a:r>
            <a:endParaRPr lang="en-US" sz="2265" dirty="0"/>
          </a:p>
        </p:txBody>
      </p:sp>
      <p:sp>
        <p:nvSpPr>
          <p:cNvPr id="59" name="Text 27"/>
          <p:cNvSpPr/>
          <p:nvPr/>
        </p:nvSpPr>
        <p:spPr>
          <a:xfrm>
            <a:off x="11382375" y="71818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633" dirty="0">
                <a:solidFill>
                  <a:srgbClr val="535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price transparency</a:t>
            </a:r>
            <a:endParaRPr lang="en-US" sz="2633" dirty="0"/>
          </a:p>
        </p:txBody>
      </p:sp>
      <p:sp>
        <p:nvSpPr>
          <p:cNvPr id="60" name="Text 28"/>
          <p:cNvSpPr/>
          <p:nvPr/>
        </p:nvSpPr>
        <p:spPr>
          <a:xfrm>
            <a:off x="11372850" y="5295900"/>
            <a:ext cx="3143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28" b="1" dirty="0">
                <a:solidFill>
                  <a:srgbClr val="499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3728" dirty="0"/>
          </a:p>
        </p:txBody>
      </p:sp>
      <p:pic>
        <p:nvPicPr>
          <p:cNvPr id="6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23950" y="4714875"/>
            <a:ext cx="8020050" cy="5772150"/>
          </a:xfrm>
          <a:prstGeom prst="rect">
            <a:avLst/>
          </a:prstGeom>
        </p:spPr>
      </p:pic>
      <p:sp>
        <p:nvSpPr>
          <p:cNvPr id="62" name="Shape 29"/>
          <p:cNvSpPr/>
          <p:nvPr/>
        </p:nvSpPr>
        <p:spPr>
          <a:xfrm>
            <a:off x="1123950" y="8534400"/>
            <a:ext cx="7924800" cy="1943100"/>
          </a:xfrm>
          <a:prstGeom prst="roundRect">
            <a:avLst>
              <a:gd name="adj" fmla="val 14093"/>
            </a:avLst>
          </a:prstGeom>
          <a:solidFill>
            <a:srgbClr val="F4F6F5"/>
          </a:solidFill>
          <a:ln/>
        </p:spPr>
      </p:sp>
      <p:sp>
        <p:nvSpPr>
          <p:cNvPr id="63" name="Shape 30"/>
          <p:cNvSpPr/>
          <p:nvPr/>
        </p:nvSpPr>
        <p:spPr>
          <a:xfrm>
            <a:off x="1143000" y="4838700"/>
            <a:ext cx="7886700" cy="3695700"/>
          </a:xfrm>
          <a:prstGeom prst="roundRect">
            <a:avLst>
              <a:gd name="adj" fmla="val 5863"/>
            </a:avLst>
          </a:prstGeom>
          <a:solidFill>
            <a:srgbClr val="F7F7F8"/>
          </a:solidFill>
          <a:ln/>
        </p:spPr>
      </p:sp>
      <p:pic>
        <p:nvPicPr>
          <p:cNvPr id="6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33475" y="7353300"/>
            <a:ext cx="7924800" cy="1171575"/>
          </a:xfrm>
          <a:prstGeom prst="rect">
            <a:avLst/>
          </a:prstGeom>
        </p:spPr>
      </p:pic>
      <p:pic>
        <p:nvPicPr>
          <p:cNvPr id="6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28800" y="5200650"/>
            <a:ext cx="781050" cy="781050"/>
          </a:xfrm>
          <a:prstGeom prst="rect">
            <a:avLst/>
          </a:prstGeom>
        </p:spPr>
      </p:pic>
      <p:sp>
        <p:nvSpPr>
          <p:cNvPr id="66" name="Text 31"/>
          <p:cNvSpPr/>
          <p:nvPr/>
        </p:nvSpPr>
        <p:spPr>
          <a:xfrm>
            <a:off x="1809750" y="6886575"/>
            <a:ext cx="47910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708" dirty="0">
                <a:solidFill>
                  <a:srgbClr val="59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Intermediaries eliminated</a:t>
            </a:r>
            <a:endParaRPr lang="en-US" sz="2708" dirty="0"/>
          </a:p>
        </p:txBody>
      </p:sp>
      <p:sp>
        <p:nvSpPr>
          <p:cNvPr id="67" name="Text 32"/>
          <p:cNvSpPr/>
          <p:nvPr/>
        </p:nvSpPr>
        <p:spPr>
          <a:xfrm>
            <a:off x="1828800" y="6267450"/>
            <a:ext cx="69437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498" b="1" dirty="0">
                <a:solidFill>
                  <a:srgbClr val="404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Income: ₹15,000 →₹22,500 </a:t>
            </a:r>
            <a:pPr algn="l" indent="0" marL="0">
              <a:lnSpc>
                <a:spcPts val="2100"/>
              </a:lnSpc>
              <a:buNone/>
            </a:pPr>
            <a:r>
              <a:rPr lang="en-US" sz="2498" b="1" dirty="0">
                <a:solidFill>
                  <a:srgbClr val="5F5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acre</a:t>
            </a:r>
            <a:endParaRPr lang="en-US" sz="2498" dirty="0"/>
          </a:p>
        </p:txBody>
      </p:sp>
      <p:sp>
        <p:nvSpPr>
          <p:cNvPr id="68" name="Text 33"/>
          <p:cNvSpPr/>
          <p:nvPr/>
        </p:nvSpPr>
        <p:spPr>
          <a:xfrm>
            <a:off x="2838450" y="5295900"/>
            <a:ext cx="39814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697" b="1" dirty="0">
                <a:solidFill>
                  <a:srgbClr val="53A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Impact</a:t>
            </a:r>
            <a:endParaRPr lang="en-US" sz="3697" dirty="0"/>
          </a:p>
        </p:txBody>
      </p:sp>
      <p:sp>
        <p:nvSpPr>
          <p:cNvPr id="69" name="Text 34"/>
          <p:cNvSpPr/>
          <p:nvPr/>
        </p:nvSpPr>
        <p:spPr>
          <a:xfrm>
            <a:off x="5438775" y="9963150"/>
            <a:ext cx="30003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935" dirty="0">
                <a:solidFill>
                  <a:srgbClr val="68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Intermediaries Eliminated</a:t>
            </a:r>
            <a:endParaRPr lang="en-US" sz="1935" dirty="0"/>
          </a:p>
        </p:txBody>
      </p:sp>
      <p:sp>
        <p:nvSpPr>
          <p:cNvPr id="70" name="Text 35"/>
          <p:cNvSpPr/>
          <p:nvPr/>
        </p:nvSpPr>
        <p:spPr>
          <a:xfrm>
            <a:off x="2124075" y="9944100"/>
            <a:ext cx="23241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965" dirty="0">
                <a:solidFill>
                  <a:srgbClr val="707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per Acre (₹)</a:t>
            </a:r>
            <a:endParaRPr lang="en-US" sz="1965" dirty="0"/>
          </a:p>
        </p:txBody>
      </p:sp>
      <p:pic>
        <p:nvPicPr>
          <p:cNvPr id="71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3475" y="8515350"/>
            <a:ext cx="7858125" cy="1409700"/>
          </a:xfrm>
          <a:prstGeom prst="rect">
            <a:avLst/>
          </a:prstGeom>
        </p:spPr>
      </p:pic>
      <p:pic>
        <p:nvPicPr>
          <p:cNvPr id="72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286125" y="9077325"/>
            <a:ext cx="1085850" cy="733425"/>
          </a:xfrm>
          <a:prstGeom prst="rect">
            <a:avLst/>
          </a:prstGeom>
        </p:spPr>
      </p:pic>
      <p:pic>
        <p:nvPicPr>
          <p:cNvPr id="73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028825" y="9324975"/>
            <a:ext cx="1114425" cy="485775"/>
          </a:xfrm>
          <a:prstGeom prst="rect">
            <a:avLst/>
          </a:prstGeom>
        </p:spPr>
      </p:pic>
      <p:pic>
        <p:nvPicPr>
          <p:cNvPr id="7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34125" y="8782050"/>
            <a:ext cx="2247900" cy="1085850"/>
          </a:xfrm>
          <a:prstGeom prst="rect">
            <a:avLst/>
          </a:prstGeom>
        </p:spPr>
      </p:pic>
      <p:pic>
        <p:nvPicPr>
          <p:cNvPr id="75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334250" y="8848725"/>
            <a:ext cx="819150" cy="962025"/>
          </a:xfrm>
          <a:prstGeom prst="rect">
            <a:avLst/>
          </a:prstGeom>
        </p:spPr>
      </p:pic>
      <p:pic>
        <p:nvPicPr>
          <p:cNvPr id="76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81750" y="9001125"/>
            <a:ext cx="819150" cy="809625"/>
          </a:xfrm>
          <a:prstGeom prst="rect">
            <a:avLst/>
          </a:prstGeom>
        </p:spPr>
      </p:pic>
      <p:pic>
        <p:nvPicPr>
          <p:cNvPr id="7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685925" y="9810750"/>
            <a:ext cx="6867525" cy="66675"/>
          </a:xfrm>
          <a:prstGeom prst="rect">
            <a:avLst/>
          </a:prstGeom>
        </p:spPr>
      </p:pic>
      <p:pic>
        <p:nvPicPr>
          <p:cNvPr id="7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038725" y="8896350"/>
            <a:ext cx="19050" cy="933450"/>
          </a:xfrm>
          <a:prstGeom prst="rect">
            <a:avLst/>
          </a:prstGeom>
        </p:spPr>
      </p:pic>
      <p:pic>
        <p:nvPicPr>
          <p:cNvPr id="79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695450" y="9829800"/>
            <a:ext cx="6848475" cy="66675"/>
          </a:xfrm>
          <a:prstGeom prst="rect">
            <a:avLst/>
          </a:prstGeom>
        </p:spPr>
      </p:pic>
      <p:sp>
        <p:nvSpPr>
          <p:cNvPr id="80" name="Text 36"/>
          <p:cNvSpPr/>
          <p:nvPr/>
        </p:nvSpPr>
        <p:spPr>
          <a:xfrm>
            <a:off x="5657850" y="9391650"/>
            <a:ext cx="57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558" dirty="0">
                <a:solidFill>
                  <a:srgbClr val="3F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</a:t>
            </a:r>
            <a:endParaRPr lang="en-US" sz="2558" dirty="0"/>
          </a:p>
        </p:txBody>
      </p:sp>
      <p:sp>
        <p:nvSpPr>
          <p:cNvPr id="81" name="Text 37"/>
          <p:cNvSpPr/>
          <p:nvPr/>
        </p:nvSpPr>
        <p:spPr>
          <a:xfrm>
            <a:off x="3286125" y="8686800"/>
            <a:ext cx="110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295" dirty="0">
                <a:solidFill>
                  <a:srgbClr val="5A7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₹22,500</a:t>
            </a:r>
            <a:endParaRPr lang="en-US" sz="2295" dirty="0"/>
          </a:p>
        </p:txBody>
      </p:sp>
      <p:sp>
        <p:nvSpPr>
          <p:cNvPr id="82" name="Text 38"/>
          <p:cNvSpPr/>
          <p:nvPr/>
        </p:nvSpPr>
        <p:spPr>
          <a:xfrm>
            <a:off x="2019300" y="8915400"/>
            <a:ext cx="10858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273" b="1" dirty="0">
                <a:solidFill>
                  <a:srgbClr val="56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</a:t>
            </a:r>
            <a:endParaRPr lang="en-US" sz="2273" dirty="0"/>
          </a:p>
        </p:txBody>
      </p:sp>
      <p:sp>
        <p:nvSpPr>
          <p:cNvPr id="83" name="Shape 39"/>
          <p:cNvSpPr/>
          <p:nvPr/>
        </p:nvSpPr>
        <p:spPr>
          <a:xfrm>
            <a:off x="17821275" y="2209800"/>
            <a:ext cx="7877175" cy="2219325"/>
          </a:xfrm>
          <a:prstGeom prst="roundRect">
            <a:avLst>
              <a:gd name="adj" fmla="val 16309"/>
            </a:avLst>
          </a:prstGeom>
          <a:solidFill>
            <a:srgbClr val="F9F9FA"/>
          </a:solidFill>
          <a:ln w="19050">
            <a:solidFill>
              <a:srgbClr val="EAEBEE"/>
            </a:solidFill>
            <a:prstDash val="solid"/>
          </a:ln>
        </p:spPr>
      </p:sp>
      <p:pic>
        <p:nvPicPr>
          <p:cNvPr id="8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9421475" y="2714625"/>
            <a:ext cx="1285875" cy="1285875"/>
          </a:xfrm>
          <a:prstGeom prst="rect">
            <a:avLst/>
          </a:prstGeom>
        </p:spPr>
      </p:pic>
      <p:sp>
        <p:nvSpPr>
          <p:cNvPr id="85" name="Text 40"/>
          <p:cNvSpPr/>
          <p:nvPr/>
        </p:nvSpPr>
        <p:spPr>
          <a:xfrm>
            <a:off x="21059775" y="3600450"/>
            <a:ext cx="30194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10" dirty="0">
                <a:solidFill>
                  <a:srgbClr val="5C5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Increase</a:t>
            </a:r>
            <a:endParaRPr lang="en-US" sz="2910" dirty="0"/>
          </a:p>
        </p:txBody>
      </p:sp>
      <p:sp>
        <p:nvSpPr>
          <p:cNvPr id="86" name="Text 41"/>
          <p:cNvSpPr/>
          <p:nvPr/>
        </p:nvSpPr>
        <p:spPr>
          <a:xfrm>
            <a:off x="21097875" y="2619375"/>
            <a:ext cx="2590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25"/>
              </a:lnSpc>
              <a:buNone/>
            </a:pPr>
            <a:r>
              <a:rPr lang="en-US" sz="6885" b="1" dirty="0">
                <a:solidFill>
                  <a:srgbClr val="279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endParaRPr lang="en-US" sz="6885" dirty="0"/>
          </a:p>
        </p:txBody>
      </p:sp>
      <p:sp>
        <p:nvSpPr>
          <p:cNvPr id="87" name="Shape 42"/>
          <p:cNvSpPr/>
          <p:nvPr/>
        </p:nvSpPr>
        <p:spPr>
          <a:xfrm>
            <a:off x="9610725" y="2228850"/>
            <a:ext cx="7620000" cy="2190750"/>
          </a:xfrm>
          <a:prstGeom prst="roundRect">
            <a:avLst>
              <a:gd name="adj" fmla="val 16087"/>
            </a:avLst>
          </a:prstGeom>
          <a:solidFill>
            <a:srgbClr val="F9F9FA"/>
          </a:solidFill>
          <a:ln w="19050">
            <a:solidFill>
              <a:srgbClr val="F4F4F6"/>
            </a:solidFill>
            <a:prstDash val="solid"/>
          </a:ln>
        </p:spPr>
      </p:sp>
      <p:pic>
        <p:nvPicPr>
          <p:cNvPr id="88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639425" y="2733675"/>
            <a:ext cx="1457325" cy="1209675"/>
          </a:xfrm>
          <a:prstGeom prst="rect">
            <a:avLst/>
          </a:prstGeom>
        </p:spPr>
      </p:pic>
      <p:sp>
        <p:nvSpPr>
          <p:cNvPr id="89" name="Text 43"/>
          <p:cNvSpPr/>
          <p:nvPr/>
        </p:nvSpPr>
        <p:spPr>
          <a:xfrm>
            <a:off x="12544425" y="360045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03" dirty="0">
                <a:solidFill>
                  <a:srgbClr val="5C5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per Acre</a:t>
            </a:r>
            <a:endParaRPr lang="en-US" sz="2903" dirty="0"/>
          </a:p>
        </p:txBody>
      </p:sp>
      <p:sp>
        <p:nvSpPr>
          <p:cNvPr id="90" name="Text 44"/>
          <p:cNvSpPr/>
          <p:nvPr/>
        </p:nvSpPr>
        <p:spPr>
          <a:xfrm>
            <a:off x="12515850" y="2600325"/>
            <a:ext cx="381952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7568" b="1" dirty="0">
                <a:solidFill>
                  <a:srgbClr val="339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₹22,500</a:t>
            </a:r>
            <a:endParaRPr lang="en-US" sz="7568" dirty="0"/>
          </a:p>
        </p:txBody>
      </p:sp>
      <p:sp>
        <p:nvSpPr>
          <p:cNvPr id="91" name="Shape 45"/>
          <p:cNvSpPr/>
          <p:nvPr/>
        </p:nvSpPr>
        <p:spPr>
          <a:xfrm>
            <a:off x="1152525" y="2219325"/>
            <a:ext cx="7877175" cy="2209800"/>
          </a:xfrm>
          <a:prstGeom prst="roundRect">
            <a:avLst>
              <a:gd name="adj" fmla="val 18103"/>
            </a:avLst>
          </a:prstGeom>
          <a:solidFill>
            <a:srgbClr val="F9F8FA"/>
          </a:solidFill>
          <a:ln w="19050">
            <a:solidFill>
              <a:srgbClr val="ECEDEF"/>
            </a:solidFill>
            <a:prstDash val="solid"/>
          </a:ln>
        </p:spPr>
      </p:sp>
      <p:pic>
        <p:nvPicPr>
          <p:cNvPr id="92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324100" y="2562225"/>
            <a:ext cx="1552575" cy="1533525"/>
          </a:xfrm>
          <a:prstGeom prst="rect">
            <a:avLst/>
          </a:prstGeom>
        </p:spPr>
      </p:pic>
      <p:sp>
        <p:nvSpPr>
          <p:cNvPr id="93" name="Text 46"/>
          <p:cNvSpPr/>
          <p:nvPr/>
        </p:nvSpPr>
        <p:spPr>
          <a:xfrm>
            <a:off x="4152900" y="3590925"/>
            <a:ext cx="2733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903" dirty="0">
                <a:solidFill>
                  <a:srgbClr val="59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in Pilot</a:t>
            </a:r>
            <a:endParaRPr lang="en-US" sz="2903" dirty="0"/>
          </a:p>
        </p:txBody>
      </p:sp>
      <p:sp>
        <p:nvSpPr>
          <p:cNvPr id="94" name="Text 47"/>
          <p:cNvSpPr/>
          <p:nvPr/>
        </p:nvSpPr>
        <p:spPr>
          <a:xfrm>
            <a:off x="4124325" y="2609850"/>
            <a:ext cx="3762375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7838" dirty="0">
                <a:solidFill>
                  <a:srgbClr val="2A9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lang="en-US" sz="7838" dirty="0"/>
          </a:p>
        </p:txBody>
      </p:sp>
      <p:sp>
        <p:nvSpPr>
          <p:cNvPr id="95" name="Text 48"/>
          <p:cNvSpPr/>
          <p:nvPr/>
        </p:nvSpPr>
        <p:spPr>
          <a:xfrm>
            <a:off x="4105275" y="762000"/>
            <a:ext cx="186023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76"/>
              </a:lnSpc>
              <a:buNone/>
            </a:pPr>
            <a:r>
              <a:rPr lang="en-US" sz="7294" b="1" dirty="0">
                <a:solidFill>
                  <a:srgbClr val="339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Success: From Farmer to Nation</a:t>
            </a:r>
            <a:endParaRPr lang="en-US" sz="729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6822400" cy="1508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822400" cy="15087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8400" y="13030200"/>
            <a:ext cx="11953875" cy="44767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2107525" y="4972050"/>
            <a:ext cx="3629025" cy="6486525"/>
          </a:xfrm>
          <a:prstGeom prst="roundRect">
            <a:avLst>
              <a:gd name="adj" fmla="val 5512"/>
            </a:avLst>
          </a:prstGeom>
          <a:solidFill>
            <a:srgbClr val="F9F9FB"/>
          </a:solidFill>
          <a:ln w="38100">
            <a:solidFill>
              <a:srgbClr val="ADAEB4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4700" y="6562725"/>
            <a:ext cx="466725" cy="46672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5175" y="5829300"/>
            <a:ext cx="476250" cy="46672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4700" y="5238750"/>
            <a:ext cx="466725" cy="44767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2983825" y="5734050"/>
            <a:ext cx="19145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67" dirty="0">
                <a:solidFill>
                  <a:srgbClr val="595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service</a:t>
            </a:r>
            <a:endParaRPr lang="en-US" sz="2167" dirty="0"/>
          </a:p>
          <a:p>
            <a:pPr algn="l" indent="0" marL="0">
              <a:lnSpc>
                <a:spcPts val="2565"/>
              </a:lnSpc>
              <a:buNone/>
            </a:pPr>
            <a:r>
              <a:rPr lang="en-US" sz="2167" dirty="0">
                <a:solidFill>
                  <a:srgbClr val="595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(Python)</a:t>
            </a:r>
            <a:endParaRPr lang="en-US" sz="2167" dirty="0"/>
          </a:p>
          <a:p>
            <a:pPr algn="l" indent="0" marL="0">
              <a:lnSpc>
                <a:spcPts val="2565"/>
              </a:lnSpc>
              <a:buNone/>
            </a:pPr>
            <a:r>
              <a:rPr lang="en-US" sz="2167" dirty="0">
                <a:solidFill>
                  <a:srgbClr val="595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to</a:t>
            </a:r>
            <a:endParaRPr lang="en-US" sz="2167" dirty="0"/>
          </a:p>
          <a:p>
            <a:pPr algn="l" indent="0" marL="0">
              <a:lnSpc>
                <a:spcPts val="2565"/>
              </a:lnSpc>
              <a:buNone/>
            </a:pPr>
            <a:r>
              <a:rPr lang="en-US" sz="2167" dirty="0">
                <a:solidFill>
                  <a:srgbClr val="595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Render/Vercel</a:t>
            </a:r>
            <a:endParaRPr lang="en-US" sz="2167" dirty="0"/>
          </a:p>
        </p:txBody>
      </p:sp>
      <p:sp>
        <p:nvSpPr>
          <p:cNvPr id="10" name="Text 2"/>
          <p:cNvSpPr/>
          <p:nvPr/>
        </p:nvSpPr>
        <p:spPr>
          <a:xfrm>
            <a:off x="22983825" y="5219700"/>
            <a:ext cx="17907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2138" dirty="0">
                <a:solidFill>
                  <a:srgbClr val="5C5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03-08</a:t>
            </a:r>
            <a:endParaRPr lang="en-US" sz="2138" dirty="0"/>
          </a:p>
        </p:txBody>
      </p:sp>
      <p:sp>
        <p:nvSpPr>
          <p:cNvPr id="11" name="Shape 3"/>
          <p:cNvSpPr/>
          <p:nvPr/>
        </p:nvSpPr>
        <p:spPr>
          <a:xfrm>
            <a:off x="21812250" y="4038600"/>
            <a:ext cx="123825" cy="7477125"/>
          </a:xfrm>
          <a:prstGeom prst="rect">
            <a:avLst/>
          </a:prstGeom>
          <a:solidFill>
            <a:srgbClr val="F8F8FA"/>
          </a:solidFill>
          <a:ln/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40825" y="4048125"/>
            <a:ext cx="85725" cy="74295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18040350" y="4972050"/>
            <a:ext cx="3629025" cy="6496050"/>
          </a:xfrm>
          <a:prstGeom prst="roundRect">
            <a:avLst>
              <a:gd name="adj" fmla="val 5512"/>
            </a:avLst>
          </a:prstGeom>
          <a:solidFill>
            <a:srgbClr val="F9F9FB"/>
          </a:solidFill>
          <a:ln w="47625">
            <a:solidFill>
              <a:srgbClr val="E3CC83"/>
            </a:solidFill>
            <a:prstDash val="solid"/>
          </a:ln>
        </p:spPr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0" y="6105525"/>
            <a:ext cx="457200" cy="457200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0" y="5257800"/>
            <a:ext cx="457200" cy="45720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8878550" y="6076950"/>
            <a:ext cx="24574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8"/>
              </a:lnSpc>
              <a:buNone/>
            </a:pPr>
            <a:r>
              <a:rPr lang="en-US" sz="2220" dirty="0">
                <a:solidFill>
                  <a:srgbClr val="68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Two-command</a:t>
            </a:r>
            <a:endParaRPr lang="en-US" sz="2220" dirty="0"/>
          </a:p>
          <a:p>
            <a:pPr algn="l" indent="0" marL="0">
              <a:lnSpc>
                <a:spcPts val="2628"/>
              </a:lnSpc>
              <a:buNone/>
            </a:pPr>
            <a:r>
              <a:rPr lang="en-US" sz="2220" dirty="0">
                <a:solidFill>
                  <a:srgbClr val="68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2220" dirty="0"/>
          </a:p>
        </p:txBody>
      </p:sp>
      <p:sp>
        <p:nvSpPr>
          <p:cNvPr id="17" name="Text 6"/>
          <p:cNvSpPr/>
          <p:nvPr/>
        </p:nvSpPr>
        <p:spPr>
          <a:xfrm>
            <a:off x="18888075" y="5210175"/>
            <a:ext cx="2476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86"/>
              </a:lnSpc>
              <a:buNone/>
            </a:pPr>
            <a:r>
              <a:rPr lang="en-US" sz="2183" dirty="0">
                <a:solidFill>
                  <a:srgbClr val="535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CDN</a:t>
            </a:r>
            <a:endParaRPr lang="en-US" sz="2183" dirty="0"/>
          </a:p>
          <a:p>
            <a:pPr algn="l" indent="0" marL="0">
              <a:lnSpc>
                <a:spcPts val="2586"/>
              </a:lnSpc>
              <a:buNone/>
            </a:pPr>
            <a:r>
              <a:rPr lang="en-US" sz="2183" dirty="0">
                <a:solidFill>
                  <a:srgbClr val="535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in sandbox</a:t>
            </a:r>
            <a:endParaRPr lang="en-US" sz="2183" dirty="0"/>
          </a:p>
        </p:txBody>
      </p:sp>
      <p:sp>
        <p:nvSpPr>
          <p:cNvPr id="18" name="Shape 7"/>
          <p:cNvSpPr/>
          <p:nvPr/>
        </p:nvSpPr>
        <p:spPr>
          <a:xfrm>
            <a:off x="17783175" y="4038600"/>
            <a:ext cx="123825" cy="7458075"/>
          </a:xfrm>
          <a:prstGeom prst="rect">
            <a:avLst/>
          </a:prstGeom>
          <a:solidFill>
            <a:srgbClr val="F8F8FA"/>
          </a:solidFill>
          <a:ln/>
        </p:spPr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02225" y="4048125"/>
            <a:ext cx="95250" cy="7429500"/>
          </a:xfrm>
          <a:prstGeom prst="rect">
            <a:avLst/>
          </a:prstGeom>
        </p:spPr>
      </p:pic>
      <p:sp>
        <p:nvSpPr>
          <p:cNvPr id="20" name="Shape 8"/>
          <p:cNvSpPr/>
          <p:nvPr/>
        </p:nvSpPr>
        <p:spPr>
          <a:xfrm>
            <a:off x="13754100" y="4972050"/>
            <a:ext cx="3886200" cy="6486525"/>
          </a:xfrm>
          <a:prstGeom prst="roundRect">
            <a:avLst>
              <a:gd name="adj" fmla="val 5208"/>
            </a:avLst>
          </a:prstGeom>
          <a:solidFill>
            <a:srgbClr val="F8F9FB"/>
          </a:solidFill>
          <a:ln w="38100">
            <a:solidFill>
              <a:srgbClr val="688D7D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14649450" y="8562975"/>
            <a:ext cx="2638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153" dirty="0">
                <a:solidFill>
                  <a:srgbClr val="6F7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6,000+ lines of code</a:t>
            </a:r>
            <a:endParaRPr lang="en-US" sz="2153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30325" y="8543925"/>
            <a:ext cx="457200" cy="447675"/>
          </a:xfrm>
          <a:prstGeom prst="rect">
            <a:avLst/>
          </a:prstGeom>
        </p:spPr>
      </p:pic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35100" y="8639175"/>
            <a:ext cx="266700" cy="24765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14649450" y="7715250"/>
            <a:ext cx="25717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75"/>
              </a:lnSpc>
              <a:buNone/>
            </a:pPr>
            <a:r>
              <a:rPr lang="en-US" sz="1815" dirty="0">
                <a:solidFill>
                  <a:srgbClr val="777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REST endpoints live</a:t>
            </a:r>
            <a:endParaRPr lang="en-US" sz="1815" dirty="0"/>
          </a:p>
        </p:txBody>
      </p:sp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30325" y="7734300"/>
            <a:ext cx="457200" cy="45720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14068425" y="7848600"/>
            <a:ext cx="361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4"/>
              </a:lnSpc>
              <a:buNone/>
            </a:pPr>
            <a:r>
              <a:rPr lang="en-US" sz="1778" dirty="0">
                <a:solidFill>
                  <a:srgbClr val="A3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778" dirty="0"/>
          </a:p>
        </p:txBody>
      </p:sp>
      <p:sp>
        <p:nvSpPr>
          <p:cNvPr id="27" name="Text 12"/>
          <p:cNvSpPr/>
          <p:nvPr/>
        </p:nvSpPr>
        <p:spPr>
          <a:xfrm>
            <a:off x="14649450" y="6877050"/>
            <a:ext cx="21145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5"/>
              </a:lnSpc>
              <a:buNone/>
            </a:pPr>
            <a:r>
              <a:rPr lang="en-US" sz="1875" dirty="0">
                <a:solidFill>
                  <a:srgbClr val="5B5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875" dirty="0"/>
          </a:p>
          <a:p>
            <a:pPr algn="l" indent="0" marL="0">
              <a:lnSpc>
                <a:spcPts val="2705"/>
              </a:lnSpc>
              <a:buNone/>
            </a:pPr>
            <a:r>
              <a:rPr lang="en-US" sz="1875" dirty="0">
                <a:solidFill>
                  <a:srgbClr val="5B5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30325" y="6905625"/>
            <a:ext cx="457200" cy="466725"/>
          </a:xfrm>
          <a:prstGeom prst="rect">
            <a:avLst/>
          </a:prstGeom>
        </p:spPr>
      </p:pic>
      <p:pic>
        <p:nvPicPr>
          <p:cNvPr id="2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106525" y="7010400"/>
            <a:ext cx="304800" cy="257175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14649450" y="6076950"/>
            <a:ext cx="24669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1"/>
              </a:lnSpc>
              <a:buNone/>
            </a:pPr>
            <a:r>
              <a:rPr lang="en-US" sz="2163" dirty="0">
                <a:solidFill>
                  <a:srgbClr val="646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schemas</a:t>
            </a:r>
            <a:endParaRPr lang="en-US" sz="2163" dirty="0"/>
          </a:p>
          <a:p>
            <a:pPr algn="l" indent="0" marL="0">
              <a:lnSpc>
                <a:spcPts val="2561"/>
              </a:lnSpc>
              <a:buNone/>
            </a:pPr>
            <a:r>
              <a:rPr lang="en-US" sz="2163" dirty="0">
                <a:solidFill>
                  <a:srgbClr val="6465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2163" dirty="0"/>
          </a:p>
        </p:txBody>
      </p:sp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30325" y="6096000"/>
            <a:ext cx="466725" cy="47625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14639925" y="5210175"/>
            <a:ext cx="24003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14"/>
              </a:lnSpc>
              <a:buNone/>
            </a:pPr>
            <a:r>
              <a:rPr lang="en-US" sz="2209" dirty="0">
                <a:solidFill>
                  <a:srgbClr val="555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 gateway</a:t>
            </a:r>
            <a:endParaRPr lang="en-US" sz="2209" dirty="0"/>
          </a:p>
          <a:p>
            <a:pPr algn="l" indent="0" marL="0">
              <a:lnSpc>
                <a:spcPts val="2614"/>
              </a:lnSpc>
              <a:buNone/>
            </a:pPr>
            <a:r>
              <a:rPr lang="en-US" sz="2209" dirty="0">
                <a:solidFill>
                  <a:srgbClr val="555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JWT auth</a:t>
            </a:r>
            <a:endParaRPr lang="en-US" sz="2209" dirty="0"/>
          </a:p>
        </p:txBody>
      </p:sp>
      <p:pic>
        <p:nvPicPr>
          <p:cNvPr id="3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30325" y="5257800"/>
            <a:ext cx="466725" cy="466725"/>
          </a:xfrm>
          <a:prstGeom prst="rect">
            <a:avLst/>
          </a:prstGeom>
        </p:spPr>
      </p:pic>
      <p:sp>
        <p:nvSpPr>
          <p:cNvPr id="34" name="Shape 15"/>
          <p:cNvSpPr/>
          <p:nvPr/>
        </p:nvSpPr>
        <p:spPr>
          <a:xfrm>
            <a:off x="1066800" y="10610850"/>
            <a:ext cx="11782425" cy="3457575"/>
          </a:xfrm>
          <a:prstGeom prst="roundRect">
            <a:avLst>
              <a:gd name="adj" fmla="val 6336"/>
            </a:avLst>
          </a:prstGeom>
          <a:solidFill>
            <a:srgbClr val="F8F9FB"/>
          </a:solidFill>
          <a:ln w="47625">
            <a:solidFill>
              <a:srgbClr val="628D7B"/>
            </a:solidFill>
            <a:prstDash val="solid"/>
          </a:ln>
        </p:spPr>
      </p:sp>
      <p:pic>
        <p:nvPicPr>
          <p:cNvPr id="3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57325" y="10934700"/>
            <a:ext cx="581025" cy="571500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1704975" y="12973050"/>
            <a:ext cx="42576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90" dirty="0">
                <a:solidFill>
                  <a:srgbClr val="727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npm run verify:listings</a:t>
            </a:r>
          </a:p>
          <a:p>
            <a:pPr algn="l" indent="0" marL="0">
              <a:lnSpc>
                <a:spcPts val="3150"/>
              </a:lnSpc>
              <a:buNone/>
            </a:pPr>
            <a:r>
              <a:rPr lang="en-US" sz="2190" dirty="0">
                <a:solidFill>
                  <a:srgbClr val="7D7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Proceed to Phase 03</a:t>
            </a:r>
            <a:endParaRPr lang="en-US" sz="2190" dirty="0"/>
          </a:p>
        </p:txBody>
      </p:sp>
      <p:sp>
        <p:nvSpPr>
          <p:cNvPr id="37" name="Text 17"/>
          <p:cNvSpPr/>
          <p:nvPr/>
        </p:nvSpPr>
        <p:spPr>
          <a:xfrm>
            <a:off x="2209800" y="12153900"/>
            <a:ext cx="36004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25"/>
              </a:lnSpc>
              <a:buNone/>
            </a:pPr>
            <a:r>
              <a:rPr lang="en-US" sz="2625" dirty="0">
                <a:solidFill>
                  <a:srgbClr val="777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seed:admin</a:t>
            </a:r>
            <a:pPr algn="l" indent="0" marL="0">
              <a:lnSpc>
                <a:spcPts val="3225"/>
              </a:lnSpc>
              <a:buNone/>
            </a:pPr>
            <a:endParaRPr lang="en-US" sz="2100" dirty="0"/>
          </a:p>
          <a:p>
            <a:pPr algn="l" indent="0" marL="0">
              <a:lnSpc>
                <a:spcPts val="3225"/>
              </a:lnSpc>
              <a:buNone/>
            </a:pPr>
            <a:r>
              <a:rPr lang="en-US" sz="2100" dirty="0">
                <a:solidFill>
                  <a:srgbClr val="777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verify:auth</a:t>
            </a:r>
            <a:endParaRPr lang="en-US" sz="2100" dirty="0"/>
          </a:p>
        </p:txBody>
      </p:sp>
      <p:sp>
        <p:nvSpPr>
          <p:cNvPr id="38" name="Text 18"/>
          <p:cNvSpPr/>
          <p:nvPr/>
        </p:nvSpPr>
        <p:spPr>
          <a:xfrm>
            <a:off x="1695450" y="12573000"/>
            <a:ext cx="323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24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400" dirty="0"/>
          </a:p>
        </p:txBody>
      </p:sp>
      <p:sp>
        <p:nvSpPr>
          <p:cNvPr id="39" name="Text 19"/>
          <p:cNvSpPr/>
          <p:nvPr/>
        </p:nvSpPr>
        <p:spPr>
          <a:xfrm>
            <a:off x="1695450" y="12163425"/>
            <a:ext cx="323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2340" dirty="0">
                <a:solidFill>
                  <a:srgbClr val="6E6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340" dirty="0"/>
          </a:p>
        </p:txBody>
      </p:sp>
      <p:sp>
        <p:nvSpPr>
          <p:cNvPr id="40" name="Text 20"/>
          <p:cNvSpPr/>
          <p:nvPr/>
        </p:nvSpPr>
        <p:spPr>
          <a:xfrm>
            <a:off x="1714500" y="11715750"/>
            <a:ext cx="6286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46"/>
              </a:lnSpc>
              <a:buNone/>
            </a:pPr>
            <a:r>
              <a:rPr lang="en-US" sz="2628" dirty="0">
                <a:solidFill>
                  <a:srgbClr val="636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npm run dev:db (in-memory MongoDB)</a:t>
            </a:r>
            <a:endParaRPr lang="en-US" sz="2628" dirty="0"/>
          </a:p>
        </p:txBody>
      </p:sp>
      <p:sp>
        <p:nvSpPr>
          <p:cNvPr id="41" name="Text 21"/>
          <p:cNvSpPr/>
          <p:nvPr/>
        </p:nvSpPr>
        <p:spPr>
          <a:xfrm>
            <a:off x="2219325" y="10944225"/>
            <a:ext cx="42767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A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Plan (If Behind):</a:t>
            </a:r>
            <a:endParaRPr lang="en-US" sz="2700" dirty="0"/>
          </a:p>
        </p:txBody>
      </p:sp>
      <p:sp>
        <p:nvSpPr>
          <p:cNvPr id="42" name="Text 22"/>
          <p:cNvSpPr/>
          <p:nvPr/>
        </p:nvSpPr>
        <p:spPr>
          <a:xfrm>
            <a:off x="11563350" y="9848850"/>
            <a:ext cx="1285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6"/>
              </a:lnSpc>
              <a:buNone/>
            </a:pPr>
            <a:r>
              <a:rPr lang="en-US" sz="1885" dirty="0">
                <a:solidFill>
                  <a:srgbClr val="909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30-36</a:t>
            </a:r>
            <a:endParaRPr lang="en-US" sz="1885" dirty="0"/>
          </a:p>
        </p:txBody>
      </p:sp>
      <p:sp>
        <p:nvSpPr>
          <p:cNvPr id="43" name="Shape 23"/>
          <p:cNvSpPr/>
          <p:nvPr/>
        </p:nvSpPr>
        <p:spPr>
          <a:xfrm>
            <a:off x="9620250" y="9772650"/>
            <a:ext cx="1800225" cy="419100"/>
          </a:xfrm>
          <a:prstGeom prst="roundRect">
            <a:avLst>
              <a:gd name="adj" fmla="val 18182"/>
            </a:avLst>
          </a:prstGeom>
          <a:solidFill>
            <a:srgbClr val="969AA7"/>
          </a:solidFill>
          <a:ln w="9525">
            <a:solidFill>
              <a:srgbClr val="8B8E98"/>
            </a:solidFill>
            <a:prstDash val="solid"/>
          </a:ln>
        </p:spPr>
      </p:sp>
      <p:sp>
        <p:nvSpPr>
          <p:cNvPr id="44" name="Text 24"/>
          <p:cNvSpPr/>
          <p:nvPr/>
        </p:nvSpPr>
        <p:spPr>
          <a:xfrm>
            <a:off x="9791700" y="9848850"/>
            <a:ext cx="1504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70" dirty="0">
                <a:solidFill>
                  <a:srgbClr val="D5D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470" dirty="0"/>
          </a:p>
        </p:txBody>
      </p:sp>
      <p:sp>
        <p:nvSpPr>
          <p:cNvPr id="45" name="Shape 25"/>
          <p:cNvSpPr/>
          <p:nvPr/>
        </p:nvSpPr>
        <p:spPr>
          <a:xfrm>
            <a:off x="6496050" y="9772650"/>
            <a:ext cx="3076575" cy="419100"/>
          </a:xfrm>
          <a:prstGeom prst="roundRect">
            <a:avLst>
              <a:gd name="adj" fmla="val 13636"/>
            </a:avLst>
          </a:prstGeom>
          <a:solidFill>
            <a:srgbClr val="9599A5"/>
          </a:solidFill>
          <a:ln w="19050">
            <a:solidFill>
              <a:srgbClr val="828690"/>
            </a:solidFill>
            <a:prstDash val="solid"/>
          </a:ln>
        </p:spPr>
      </p:sp>
      <p:sp>
        <p:nvSpPr>
          <p:cNvPr id="46" name="Text 26"/>
          <p:cNvSpPr/>
          <p:nvPr/>
        </p:nvSpPr>
        <p:spPr>
          <a:xfrm>
            <a:off x="1771650" y="9772650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108" dirty="0">
                <a:solidFill>
                  <a:srgbClr val="686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08: Deployment</a:t>
            </a:r>
            <a:endParaRPr lang="en-US" sz="2108" dirty="0"/>
          </a:p>
        </p:txBody>
      </p:sp>
      <p:pic>
        <p:nvPicPr>
          <p:cNvPr id="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4900" y="9772650"/>
            <a:ext cx="400050" cy="400050"/>
          </a:xfrm>
          <a:prstGeom prst="rect">
            <a:avLst/>
          </a:prstGeom>
        </p:spPr>
      </p:pic>
      <p:sp>
        <p:nvSpPr>
          <p:cNvPr id="48" name="Shape 27"/>
          <p:cNvSpPr/>
          <p:nvPr/>
        </p:nvSpPr>
        <p:spPr>
          <a:xfrm>
            <a:off x="9610725" y="9124950"/>
            <a:ext cx="1809750" cy="428625"/>
          </a:xfrm>
          <a:prstGeom prst="roundRect">
            <a:avLst>
              <a:gd name="adj" fmla="val 20000"/>
            </a:avLst>
          </a:prstGeom>
          <a:solidFill>
            <a:srgbClr val="9499A4"/>
          </a:solidFill>
          <a:ln w="19050">
            <a:solidFill>
              <a:srgbClr val="9C9EA8"/>
            </a:solidFill>
            <a:prstDash val="solid"/>
          </a:ln>
        </p:spPr>
      </p:sp>
      <p:sp>
        <p:nvSpPr>
          <p:cNvPr id="49" name="Text 28"/>
          <p:cNvSpPr/>
          <p:nvPr/>
        </p:nvSpPr>
        <p:spPr>
          <a:xfrm>
            <a:off x="9791700" y="919162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45" dirty="0">
                <a:solidFill>
                  <a:srgbClr val="D4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545" dirty="0"/>
          </a:p>
        </p:txBody>
      </p:sp>
      <p:sp>
        <p:nvSpPr>
          <p:cNvPr id="50" name="Shape 29"/>
          <p:cNvSpPr/>
          <p:nvPr/>
        </p:nvSpPr>
        <p:spPr>
          <a:xfrm>
            <a:off x="6505575" y="9115425"/>
            <a:ext cx="3067050" cy="428625"/>
          </a:xfrm>
          <a:prstGeom prst="roundRect">
            <a:avLst>
              <a:gd name="adj" fmla="val 8889"/>
            </a:avLst>
          </a:prstGeom>
          <a:solidFill>
            <a:srgbClr val="9498A4"/>
          </a:solidFill>
          <a:ln w="9525">
            <a:solidFill>
              <a:srgbClr val="91949E"/>
            </a:solidFill>
            <a:prstDash val="solid"/>
          </a:ln>
        </p:spPr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" y="9124950"/>
            <a:ext cx="400050" cy="390525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11572875" y="8553450"/>
            <a:ext cx="1247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808" dirty="0">
                <a:solidFill>
                  <a:srgbClr val="8E8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18-24</a:t>
            </a:r>
            <a:endParaRPr lang="en-US" sz="1808" dirty="0"/>
          </a:p>
        </p:txBody>
      </p:sp>
      <p:sp>
        <p:nvSpPr>
          <p:cNvPr id="53" name="Shape 31"/>
          <p:cNvSpPr/>
          <p:nvPr/>
        </p:nvSpPr>
        <p:spPr>
          <a:xfrm>
            <a:off x="9620250" y="8477250"/>
            <a:ext cx="1800225" cy="419100"/>
          </a:xfrm>
          <a:prstGeom prst="roundRect">
            <a:avLst>
              <a:gd name="adj" fmla="val 15909"/>
            </a:avLst>
          </a:prstGeom>
          <a:solidFill>
            <a:srgbClr val="969AA7"/>
          </a:solidFill>
          <a:ln w="19050">
            <a:solidFill>
              <a:srgbClr val="9598A1"/>
            </a:solidFill>
            <a:prstDash val="solid"/>
          </a:ln>
        </p:spPr>
      </p:sp>
      <p:sp>
        <p:nvSpPr>
          <p:cNvPr id="54" name="Text 32"/>
          <p:cNvSpPr/>
          <p:nvPr/>
        </p:nvSpPr>
        <p:spPr>
          <a:xfrm>
            <a:off x="9791700" y="8543925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45" dirty="0">
                <a:solidFill>
                  <a:srgbClr val="D6D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545" dirty="0"/>
          </a:p>
        </p:txBody>
      </p:sp>
      <p:sp>
        <p:nvSpPr>
          <p:cNvPr id="55" name="Shape 33"/>
          <p:cNvSpPr/>
          <p:nvPr/>
        </p:nvSpPr>
        <p:spPr>
          <a:xfrm>
            <a:off x="6496050" y="8477250"/>
            <a:ext cx="3076575" cy="419100"/>
          </a:xfrm>
          <a:prstGeom prst="roundRect">
            <a:avLst>
              <a:gd name="adj" fmla="val 13636"/>
            </a:avLst>
          </a:prstGeom>
          <a:solidFill>
            <a:srgbClr val="969AA6"/>
          </a:solidFill>
          <a:ln w="9525">
            <a:solidFill>
              <a:srgbClr val="868A93"/>
            </a:solidFill>
            <a:prstDash val="solid"/>
          </a:ln>
        </p:spPr>
      </p:sp>
      <p:sp>
        <p:nvSpPr>
          <p:cNvPr id="56" name="Text 34"/>
          <p:cNvSpPr/>
          <p:nvPr/>
        </p:nvSpPr>
        <p:spPr>
          <a:xfrm>
            <a:off x="1771650" y="8477250"/>
            <a:ext cx="38385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115" dirty="0">
                <a:solidFill>
                  <a:srgbClr val="6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06: Orders &amp; Payments</a:t>
            </a:r>
            <a:endParaRPr lang="en-US" sz="2115" dirty="0"/>
          </a:p>
        </p:txBody>
      </p:sp>
      <p:pic>
        <p:nvPicPr>
          <p:cNvPr id="5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4900" y="8467725"/>
            <a:ext cx="400050" cy="400050"/>
          </a:xfrm>
          <a:prstGeom prst="rect">
            <a:avLst/>
          </a:prstGeom>
        </p:spPr>
      </p:pic>
      <p:sp>
        <p:nvSpPr>
          <p:cNvPr id="58" name="Text 35"/>
          <p:cNvSpPr/>
          <p:nvPr/>
        </p:nvSpPr>
        <p:spPr>
          <a:xfrm>
            <a:off x="11563350" y="7905750"/>
            <a:ext cx="1228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720" dirty="0">
                <a:solidFill>
                  <a:srgbClr val="919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12-18</a:t>
            </a:r>
            <a:endParaRPr lang="en-US" sz="1720" dirty="0"/>
          </a:p>
        </p:txBody>
      </p:sp>
      <p:sp>
        <p:nvSpPr>
          <p:cNvPr id="59" name="Shape 36"/>
          <p:cNvSpPr/>
          <p:nvPr/>
        </p:nvSpPr>
        <p:spPr>
          <a:xfrm>
            <a:off x="9620250" y="7820025"/>
            <a:ext cx="1800225" cy="428625"/>
          </a:xfrm>
          <a:prstGeom prst="roundRect">
            <a:avLst>
              <a:gd name="adj" fmla="val 22778"/>
            </a:avLst>
          </a:prstGeom>
          <a:solidFill>
            <a:srgbClr val="9499A5"/>
          </a:solidFill>
          <a:ln w="9525">
            <a:solidFill>
              <a:srgbClr val="888B95"/>
            </a:solidFill>
            <a:prstDash val="solid"/>
          </a:ln>
        </p:spPr>
      </p:sp>
      <p:sp>
        <p:nvSpPr>
          <p:cNvPr id="60" name="Text 37"/>
          <p:cNvSpPr/>
          <p:nvPr/>
        </p:nvSpPr>
        <p:spPr>
          <a:xfrm>
            <a:off x="9791700" y="7896225"/>
            <a:ext cx="1495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45" dirty="0">
                <a:solidFill>
                  <a:srgbClr val="D4D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545" dirty="0"/>
          </a:p>
        </p:txBody>
      </p:sp>
      <p:sp>
        <p:nvSpPr>
          <p:cNvPr id="61" name="Shape 38"/>
          <p:cNvSpPr/>
          <p:nvPr/>
        </p:nvSpPr>
        <p:spPr>
          <a:xfrm>
            <a:off x="6505575" y="7820025"/>
            <a:ext cx="3067050" cy="428625"/>
          </a:xfrm>
          <a:prstGeom prst="roundRect">
            <a:avLst>
              <a:gd name="adj" fmla="val 8889"/>
            </a:avLst>
          </a:prstGeom>
          <a:solidFill>
            <a:srgbClr val="9599A5"/>
          </a:solidFill>
          <a:ln w="9525">
            <a:solidFill>
              <a:srgbClr val="858993"/>
            </a:solidFill>
            <a:prstDash val="solid"/>
          </a:ln>
        </p:spPr>
      </p:sp>
      <p:sp>
        <p:nvSpPr>
          <p:cNvPr id="62" name="Text 39"/>
          <p:cNvSpPr/>
          <p:nvPr/>
        </p:nvSpPr>
        <p:spPr>
          <a:xfrm>
            <a:off x="1771650" y="7829550"/>
            <a:ext cx="32861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167" dirty="0">
                <a:solidFill>
                  <a:srgbClr val="676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05: Matching &amp; ML</a:t>
            </a:r>
            <a:endParaRPr lang="en-US" sz="2167" dirty="0"/>
          </a:p>
        </p:txBody>
      </p:sp>
      <p:pic>
        <p:nvPicPr>
          <p:cNvPr id="6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4900" y="7820025"/>
            <a:ext cx="400050" cy="400050"/>
          </a:xfrm>
          <a:prstGeom prst="rect">
            <a:avLst/>
          </a:prstGeom>
        </p:spPr>
      </p:pic>
      <p:pic>
        <p:nvPicPr>
          <p:cNvPr id="6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8225" y="7639050"/>
            <a:ext cx="11858625" cy="85725"/>
          </a:xfrm>
          <a:prstGeom prst="rect">
            <a:avLst/>
          </a:prstGeom>
        </p:spPr>
      </p:pic>
      <p:sp>
        <p:nvSpPr>
          <p:cNvPr id="65" name="Text 40"/>
          <p:cNvSpPr/>
          <p:nvPr/>
        </p:nvSpPr>
        <p:spPr>
          <a:xfrm>
            <a:off x="11563350" y="7248525"/>
            <a:ext cx="1123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3"/>
              </a:lnSpc>
              <a:buNone/>
            </a:pPr>
            <a:r>
              <a:rPr lang="en-US" sz="1752" dirty="0">
                <a:solidFill>
                  <a:srgbClr val="979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6-12</a:t>
            </a:r>
            <a:endParaRPr lang="en-US" sz="1752" dirty="0"/>
          </a:p>
        </p:txBody>
      </p:sp>
      <p:sp>
        <p:nvSpPr>
          <p:cNvPr id="66" name="Shape 41"/>
          <p:cNvSpPr/>
          <p:nvPr/>
        </p:nvSpPr>
        <p:spPr>
          <a:xfrm>
            <a:off x="9610725" y="7162800"/>
            <a:ext cx="1809750" cy="428625"/>
          </a:xfrm>
          <a:prstGeom prst="roundRect">
            <a:avLst>
              <a:gd name="adj" fmla="val 22222"/>
            </a:avLst>
          </a:prstGeom>
          <a:solidFill>
            <a:srgbClr val="9599A5"/>
          </a:solidFill>
          <a:ln w="9525">
            <a:solidFill>
              <a:srgbClr val="A3A5AD"/>
            </a:solidFill>
            <a:prstDash val="solid"/>
          </a:ln>
        </p:spPr>
      </p:sp>
      <p:sp>
        <p:nvSpPr>
          <p:cNvPr id="67" name="Text 42"/>
          <p:cNvSpPr/>
          <p:nvPr/>
        </p:nvSpPr>
        <p:spPr>
          <a:xfrm>
            <a:off x="9791700" y="723900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70" dirty="0">
                <a:solidFill>
                  <a:srgbClr val="DBD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470" dirty="0"/>
          </a:p>
        </p:txBody>
      </p:sp>
      <p:sp>
        <p:nvSpPr>
          <p:cNvPr id="68" name="Shape 43"/>
          <p:cNvSpPr/>
          <p:nvPr/>
        </p:nvSpPr>
        <p:spPr>
          <a:xfrm>
            <a:off x="6496050" y="7162800"/>
            <a:ext cx="3076575" cy="428625"/>
          </a:xfrm>
          <a:prstGeom prst="roundRect">
            <a:avLst>
              <a:gd name="adj" fmla="val 15556"/>
            </a:avLst>
          </a:prstGeom>
          <a:solidFill>
            <a:srgbClr val="9599A5"/>
          </a:solidFill>
          <a:ln w="9525">
            <a:solidFill>
              <a:srgbClr val="91949E"/>
            </a:solidFill>
            <a:prstDash val="solid"/>
          </a:ln>
        </p:spPr>
      </p:sp>
      <p:sp>
        <p:nvSpPr>
          <p:cNvPr id="69" name="Text 44"/>
          <p:cNvSpPr/>
          <p:nvPr/>
        </p:nvSpPr>
        <p:spPr>
          <a:xfrm>
            <a:off x="1762125" y="7181850"/>
            <a:ext cx="37814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123" dirty="0">
                <a:solidFill>
                  <a:srgbClr val="616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04: Market Intelligence</a:t>
            </a:r>
            <a:endParaRPr lang="en-US" sz="2123" dirty="0"/>
          </a:p>
        </p:txBody>
      </p:sp>
      <p:pic>
        <p:nvPicPr>
          <p:cNvPr id="7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4900" y="7172325"/>
            <a:ext cx="400050" cy="390525"/>
          </a:xfrm>
          <a:prstGeom prst="rect">
            <a:avLst/>
          </a:prstGeom>
        </p:spPr>
      </p:pic>
      <p:pic>
        <p:nvPicPr>
          <p:cNvPr id="7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8700" y="6991350"/>
            <a:ext cx="11868150" cy="85725"/>
          </a:xfrm>
          <a:prstGeom prst="rect">
            <a:avLst/>
          </a:prstGeom>
        </p:spPr>
      </p:pic>
      <p:sp>
        <p:nvSpPr>
          <p:cNvPr id="72" name="Text 45"/>
          <p:cNvSpPr/>
          <p:nvPr/>
        </p:nvSpPr>
        <p:spPr>
          <a:xfrm>
            <a:off x="11572875" y="6591300"/>
            <a:ext cx="1028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733" dirty="0">
                <a:solidFill>
                  <a:srgbClr val="929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0-6</a:t>
            </a:r>
            <a:endParaRPr lang="en-US" sz="1733" dirty="0"/>
          </a:p>
        </p:txBody>
      </p:sp>
      <p:sp>
        <p:nvSpPr>
          <p:cNvPr id="73" name="Shape 46"/>
          <p:cNvSpPr/>
          <p:nvPr/>
        </p:nvSpPr>
        <p:spPr>
          <a:xfrm>
            <a:off x="9610725" y="6505575"/>
            <a:ext cx="1809750" cy="447675"/>
          </a:xfrm>
          <a:prstGeom prst="roundRect">
            <a:avLst>
              <a:gd name="adj" fmla="val 19149"/>
            </a:avLst>
          </a:prstGeom>
          <a:solidFill>
            <a:srgbClr val="CF9F12"/>
          </a:solidFill>
          <a:ln w="9525">
            <a:solidFill>
              <a:srgbClr val="CEA634"/>
            </a:solidFill>
            <a:prstDash val="solid"/>
          </a:ln>
        </p:spPr>
      </p:sp>
      <p:sp>
        <p:nvSpPr>
          <p:cNvPr id="74" name="Text 47"/>
          <p:cNvSpPr/>
          <p:nvPr/>
        </p:nvSpPr>
        <p:spPr>
          <a:xfrm>
            <a:off x="9791700" y="6581775"/>
            <a:ext cx="1495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70" dirty="0">
                <a:solidFill>
                  <a:srgbClr val="EBD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470" dirty="0"/>
          </a:p>
        </p:txBody>
      </p:sp>
      <p:sp>
        <p:nvSpPr>
          <p:cNvPr id="75" name="Shape 48"/>
          <p:cNvSpPr/>
          <p:nvPr/>
        </p:nvSpPr>
        <p:spPr>
          <a:xfrm>
            <a:off x="6496050" y="6496050"/>
            <a:ext cx="3076575" cy="457200"/>
          </a:xfrm>
          <a:prstGeom prst="roundRect">
            <a:avLst>
              <a:gd name="adj" fmla="val 18750"/>
            </a:avLst>
          </a:prstGeom>
          <a:solidFill>
            <a:srgbClr val="CE9D15"/>
          </a:solidFill>
          <a:ln w="9525">
            <a:solidFill>
              <a:srgbClr val="CAA02B"/>
            </a:solidFill>
            <a:prstDash val="solid"/>
          </a:ln>
        </p:spPr>
      </p:sp>
      <p:sp>
        <p:nvSpPr>
          <p:cNvPr id="76" name="Text 49"/>
          <p:cNvSpPr/>
          <p:nvPr/>
        </p:nvSpPr>
        <p:spPr>
          <a:xfrm>
            <a:off x="1771650" y="6515100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15" dirty="0">
                <a:solidFill>
                  <a:srgbClr val="78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03: Buyer Module</a:t>
            </a:r>
            <a:endParaRPr lang="en-US" sz="2115" dirty="0"/>
          </a:p>
        </p:txBody>
      </p:sp>
      <p:pic>
        <p:nvPicPr>
          <p:cNvPr id="7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5850" y="6496050"/>
            <a:ext cx="428625" cy="428625"/>
          </a:xfrm>
          <a:prstGeom prst="rect">
            <a:avLst/>
          </a:prstGeom>
        </p:spPr>
      </p:pic>
      <p:sp>
        <p:nvSpPr>
          <p:cNvPr id="78" name="Shape 50"/>
          <p:cNvSpPr/>
          <p:nvPr/>
        </p:nvSpPr>
        <p:spPr>
          <a:xfrm>
            <a:off x="10668000" y="5695950"/>
            <a:ext cx="2200275" cy="466725"/>
          </a:xfrm>
          <a:prstGeom prst="roundRect">
            <a:avLst>
              <a:gd name="adj" fmla="val 29082"/>
            </a:avLst>
          </a:prstGeom>
          <a:solidFill>
            <a:srgbClr val="1A6444"/>
          </a:solidFill>
          <a:ln w="9525">
            <a:solidFill>
              <a:srgbClr val="275D45"/>
            </a:solidFill>
            <a:prstDash val="solid"/>
          </a:ln>
        </p:spPr>
      </p:sp>
      <p:sp>
        <p:nvSpPr>
          <p:cNvPr id="79" name="Text 51"/>
          <p:cNvSpPr/>
          <p:nvPr/>
        </p:nvSpPr>
        <p:spPr>
          <a:xfrm>
            <a:off x="10820400" y="5781675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815" b="1" dirty="0">
                <a:solidFill>
                  <a:srgbClr val="A0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COMPLETE</a:t>
            </a:r>
            <a:endParaRPr lang="en-US" sz="1815" dirty="0"/>
          </a:p>
        </p:txBody>
      </p:sp>
      <p:sp>
        <p:nvSpPr>
          <p:cNvPr id="80" name="Shape 52"/>
          <p:cNvSpPr/>
          <p:nvPr/>
        </p:nvSpPr>
        <p:spPr>
          <a:xfrm>
            <a:off x="6515100" y="5695950"/>
            <a:ext cx="4114800" cy="466725"/>
          </a:xfrm>
          <a:prstGeom prst="roundRect">
            <a:avLst>
              <a:gd name="adj" fmla="val 14286"/>
            </a:avLst>
          </a:prstGeom>
          <a:solidFill>
            <a:srgbClr val="196345"/>
          </a:solidFill>
          <a:ln w="9525">
            <a:solidFill>
              <a:srgbClr val="206043"/>
            </a:solidFill>
            <a:prstDash val="solid"/>
          </a:ln>
        </p:spPr>
      </p:sp>
      <p:sp>
        <p:nvSpPr>
          <p:cNvPr id="81" name="Text 53"/>
          <p:cNvSpPr/>
          <p:nvPr/>
        </p:nvSpPr>
        <p:spPr>
          <a:xfrm>
            <a:off x="1762125" y="5734050"/>
            <a:ext cx="4619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167" dirty="0">
                <a:solidFill>
                  <a:srgbClr val="676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02: Farmer Module &amp; Listings</a:t>
            </a:r>
            <a:endParaRPr lang="en-US" sz="2167" dirty="0"/>
          </a:p>
        </p:txBody>
      </p:sp>
      <p:pic>
        <p:nvPicPr>
          <p:cNvPr id="8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6800" y="5705475"/>
            <a:ext cx="466725" cy="466725"/>
          </a:xfrm>
          <a:prstGeom prst="rect">
            <a:avLst/>
          </a:prstGeom>
        </p:spPr>
      </p:pic>
      <p:sp>
        <p:nvSpPr>
          <p:cNvPr id="83" name="Shape 54"/>
          <p:cNvSpPr/>
          <p:nvPr/>
        </p:nvSpPr>
        <p:spPr>
          <a:xfrm>
            <a:off x="10668000" y="4933950"/>
            <a:ext cx="2200275" cy="466725"/>
          </a:xfrm>
          <a:prstGeom prst="roundRect">
            <a:avLst>
              <a:gd name="adj" fmla="val 32143"/>
            </a:avLst>
          </a:prstGeom>
          <a:solidFill>
            <a:srgbClr val="176041"/>
          </a:solidFill>
          <a:ln w="9525">
            <a:solidFill>
              <a:srgbClr val="20563F"/>
            </a:solidFill>
            <a:prstDash val="solid"/>
          </a:ln>
        </p:spPr>
      </p:sp>
      <p:sp>
        <p:nvSpPr>
          <p:cNvPr id="84" name="Text 55"/>
          <p:cNvSpPr/>
          <p:nvPr/>
        </p:nvSpPr>
        <p:spPr>
          <a:xfrm>
            <a:off x="10820400" y="5019675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748" dirty="0">
                <a:solidFill>
                  <a:srgbClr val="A0C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COMPLETE</a:t>
            </a:r>
            <a:endParaRPr lang="en-US" sz="1748" dirty="0"/>
          </a:p>
        </p:txBody>
      </p:sp>
      <p:sp>
        <p:nvSpPr>
          <p:cNvPr id="85" name="Shape 56"/>
          <p:cNvSpPr/>
          <p:nvPr/>
        </p:nvSpPr>
        <p:spPr>
          <a:xfrm>
            <a:off x="6505575" y="4933950"/>
            <a:ext cx="4124325" cy="457200"/>
          </a:xfrm>
          <a:prstGeom prst="roundRect">
            <a:avLst>
              <a:gd name="adj" fmla="val 13542"/>
            </a:avLst>
          </a:prstGeom>
          <a:solidFill>
            <a:srgbClr val="1B6546"/>
          </a:solidFill>
          <a:ln w="9525">
            <a:solidFill>
              <a:srgbClr val="1B543A"/>
            </a:solidFill>
            <a:prstDash val="solid"/>
          </a:ln>
        </p:spPr>
      </p:sp>
      <p:sp>
        <p:nvSpPr>
          <p:cNvPr id="86" name="Text 57"/>
          <p:cNvSpPr/>
          <p:nvPr/>
        </p:nvSpPr>
        <p:spPr>
          <a:xfrm>
            <a:off x="1771650" y="4953000"/>
            <a:ext cx="4619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160" dirty="0">
                <a:solidFill>
                  <a:srgbClr val="5D5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01: Auth &amp; User Management</a:t>
            </a:r>
            <a:endParaRPr lang="en-US" sz="2160" dirty="0"/>
          </a:p>
        </p:txBody>
      </p:sp>
      <p:pic>
        <p:nvPicPr>
          <p:cNvPr id="87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7275" y="4924425"/>
            <a:ext cx="466725" cy="466725"/>
          </a:xfrm>
          <a:prstGeom prst="rect">
            <a:avLst/>
          </a:prstGeom>
        </p:spPr>
      </p:pic>
      <p:sp>
        <p:nvSpPr>
          <p:cNvPr id="88" name="Shape 58"/>
          <p:cNvSpPr/>
          <p:nvPr/>
        </p:nvSpPr>
        <p:spPr>
          <a:xfrm>
            <a:off x="22117050" y="4067175"/>
            <a:ext cx="3609975" cy="685800"/>
          </a:xfrm>
          <a:prstGeom prst="roundRect">
            <a:avLst>
              <a:gd name="adj" fmla="val 18056"/>
            </a:avLst>
          </a:prstGeom>
          <a:solidFill>
            <a:srgbClr val="969BA6"/>
          </a:solidFill>
          <a:ln w="9525">
            <a:solidFill>
              <a:srgbClr val="92959E"/>
            </a:solidFill>
            <a:prstDash val="solid"/>
          </a:ln>
        </p:spPr>
      </p:sp>
      <p:pic>
        <p:nvPicPr>
          <p:cNvPr id="8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336125" y="4238625"/>
            <a:ext cx="333375" cy="333375"/>
          </a:xfrm>
          <a:prstGeom prst="rect">
            <a:avLst/>
          </a:prstGeom>
        </p:spPr>
      </p:pic>
      <p:sp>
        <p:nvSpPr>
          <p:cNvPr id="90" name="Text 59"/>
          <p:cNvSpPr/>
          <p:nvPr/>
        </p:nvSpPr>
        <p:spPr>
          <a:xfrm>
            <a:off x="22764750" y="4200525"/>
            <a:ext cx="270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183" dirty="0">
                <a:solidFill>
                  <a:srgbClr val="D8D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Not Started</a:t>
            </a:r>
            <a:endParaRPr lang="en-US" sz="2183" dirty="0"/>
          </a:p>
        </p:txBody>
      </p:sp>
      <p:sp>
        <p:nvSpPr>
          <p:cNvPr id="91" name="Shape 60"/>
          <p:cNvSpPr/>
          <p:nvPr/>
        </p:nvSpPr>
        <p:spPr>
          <a:xfrm>
            <a:off x="18049875" y="4057650"/>
            <a:ext cx="3629025" cy="695325"/>
          </a:xfrm>
          <a:prstGeom prst="roundRect">
            <a:avLst>
              <a:gd name="adj" fmla="val 24658"/>
            </a:avLst>
          </a:prstGeom>
          <a:solidFill>
            <a:srgbClr val="CC9C16"/>
          </a:solidFill>
          <a:ln w="9525">
            <a:solidFill>
              <a:srgbClr val="CAA337"/>
            </a:solidFill>
            <a:prstDash val="solid"/>
          </a:ln>
        </p:spPr>
      </p:sp>
      <p:sp>
        <p:nvSpPr>
          <p:cNvPr id="92" name="Text 61"/>
          <p:cNvSpPr/>
          <p:nvPr/>
        </p:nvSpPr>
        <p:spPr>
          <a:xfrm>
            <a:off x="18840450" y="4191000"/>
            <a:ext cx="2209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235" b="1" dirty="0">
                <a:solidFill>
                  <a:srgbClr val="E7D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Blocked</a:t>
            </a:r>
            <a:endParaRPr lang="en-US" sz="2235" dirty="0"/>
          </a:p>
        </p:txBody>
      </p:sp>
      <p:pic>
        <p:nvPicPr>
          <p:cNvPr id="9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402300" y="4219575"/>
            <a:ext cx="333375" cy="342900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18564225" y="423862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C49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25" dirty="0"/>
          </a:p>
        </p:txBody>
      </p:sp>
      <p:sp>
        <p:nvSpPr>
          <p:cNvPr id="95" name="Shape 63"/>
          <p:cNvSpPr/>
          <p:nvPr/>
        </p:nvSpPr>
        <p:spPr>
          <a:xfrm>
            <a:off x="13773150" y="4067175"/>
            <a:ext cx="3867150" cy="685800"/>
          </a:xfrm>
          <a:prstGeom prst="roundRect">
            <a:avLst>
              <a:gd name="adj" fmla="val 20833"/>
            </a:avLst>
          </a:prstGeom>
          <a:solidFill>
            <a:srgbClr val="196042"/>
          </a:solidFill>
          <a:ln w="9525">
            <a:solidFill>
              <a:srgbClr val="1C503A"/>
            </a:solidFill>
            <a:prstDash val="solid"/>
          </a:ln>
        </p:spPr>
      </p:sp>
      <p:pic>
        <p:nvPicPr>
          <p:cNvPr id="9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992225" y="4219575"/>
            <a:ext cx="342900" cy="352425"/>
          </a:xfrm>
          <a:prstGeom prst="rect">
            <a:avLst/>
          </a:prstGeom>
        </p:spPr>
      </p:pic>
      <p:sp>
        <p:nvSpPr>
          <p:cNvPr id="97" name="Text 64"/>
          <p:cNvSpPr/>
          <p:nvPr/>
        </p:nvSpPr>
        <p:spPr>
          <a:xfrm>
            <a:off x="14430375" y="4191000"/>
            <a:ext cx="3067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310" dirty="0">
                <a:solidFill>
                  <a:srgbClr val="B0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Done</a:t>
            </a:r>
            <a:endParaRPr lang="en-US" sz="2310" dirty="0"/>
          </a:p>
        </p:txBody>
      </p:sp>
      <p:sp>
        <p:nvSpPr>
          <p:cNvPr id="98" name="Shape 65"/>
          <p:cNvSpPr/>
          <p:nvPr/>
        </p:nvSpPr>
        <p:spPr>
          <a:xfrm>
            <a:off x="6515100" y="4124325"/>
            <a:ext cx="6353175" cy="476250"/>
          </a:xfrm>
          <a:prstGeom prst="roundRect">
            <a:avLst>
              <a:gd name="adj" fmla="val 24500"/>
            </a:avLst>
          </a:prstGeom>
          <a:solidFill>
            <a:srgbClr val="196345"/>
          </a:solidFill>
          <a:ln w="9525">
            <a:solidFill>
              <a:srgbClr val="255C44"/>
            </a:solidFill>
            <a:prstDash val="solid"/>
          </a:ln>
        </p:spPr>
      </p:sp>
      <p:sp>
        <p:nvSpPr>
          <p:cNvPr id="99" name="Text 66"/>
          <p:cNvSpPr/>
          <p:nvPr/>
        </p:nvSpPr>
        <p:spPr>
          <a:xfrm>
            <a:off x="12068175" y="42100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800" b="1" dirty="0">
                <a:solidFill>
                  <a:srgbClr val="AECD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800" dirty="0"/>
          </a:p>
        </p:txBody>
      </p:sp>
      <p:pic>
        <p:nvPicPr>
          <p:cNvPr id="100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6800" y="4114800"/>
            <a:ext cx="457200" cy="476250"/>
          </a:xfrm>
          <a:prstGeom prst="rect">
            <a:avLst/>
          </a:prstGeom>
        </p:spPr>
      </p:pic>
      <p:pic>
        <p:nvPicPr>
          <p:cNvPr id="10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1075" y="3409950"/>
            <a:ext cx="24803100" cy="28575"/>
          </a:xfrm>
          <a:prstGeom prst="rect">
            <a:avLst/>
          </a:prstGeom>
        </p:spPr>
      </p:pic>
      <p:pic>
        <p:nvPicPr>
          <p:cNvPr id="102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3717250" y="1895475"/>
            <a:ext cx="2057400" cy="76200"/>
          </a:xfrm>
          <a:prstGeom prst="rect">
            <a:avLst/>
          </a:prstGeom>
        </p:spPr>
      </p:pic>
      <p:pic>
        <p:nvPicPr>
          <p:cNvPr id="10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3717250" y="1400175"/>
            <a:ext cx="2057400" cy="76200"/>
          </a:xfrm>
          <a:prstGeom prst="rect">
            <a:avLst/>
          </a:prstGeom>
        </p:spPr>
      </p:pic>
      <p:pic>
        <p:nvPicPr>
          <p:cNvPr id="104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421850" y="1028700"/>
            <a:ext cx="1228725" cy="1257300"/>
          </a:xfrm>
          <a:prstGeom prst="rect">
            <a:avLst/>
          </a:prstGeom>
        </p:spPr>
      </p:pic>
      <p:sp>
        <p:nvSpPr>
          <p:cNvPr id="105" name="Text 67"/>
          <p:cNvSpPr/>
          <p:nvPr/>
        </p:nvSpPr>
        <p:spPr>
          <a:xfrm>
            <a:off x="25184100" y="13630275"/>
            <a:ext cx="4476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573" dirty="0">
                <a:solidFill>
                  <a:srgbClr val="59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2573" dirty="0"/>
          </a:p>
        </p:txBody>
      </p:sp>
      <p:sp>
        <p:nvSpPr>
          <p:cNvPr id="106" name="Text 68"/>
          <p:cNvSpPr/>
          <p:nvPr/>
        </p:nvSpPr>
        <p:spPr>
          <a:xfrm>
            <a:off x="23421975" y="13639800"/>
            <a:ext cx="457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528" dirty="0">
                <a:solidFill>
                  <a:srgbClr val="585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528" dirty="0"/>
          </a:p>
        </p:txBody>
      </p:sp>
      <p:sp>
        <p:nvSpPr>
          <p:cNvPr id="107" name="Text 69"/>
          <p:cNvSpPr/>
          <p:nvPr/>
        </p:nvSpPr>
        <p:spPr>
          <a:xfrm>
            <a:off x="20240625" y="1363980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520" dirty="0">
                <a:solidFill>
                  <a:srgbClr val="545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520" dirty="0"/>
          </a:p>
        </p:txBody>
      </p:sp>
      <p:sp>
        <p:nvSpPr>
          <p:cNvPr id="108" name="Text 70"/>
          <p:cNvSpPr/>
          <p:nvPr/>
        </p:nvSpPr>
        <p:spPr>
          <a:xfrm>
            <a:off x="17078325" y="13639800"/>
            <a:ext cx="3905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505" dirty="0">
                <a:solidFill>
                  <a:srgbClr val="646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505" dirty="0"/>
          </a:p>
        </p:txBody>
      </p:sp>
      <p:sp>
        <p:nvSpPr>
          <p:cNvPr id="109" name="Text 71"/>
          <p:cNvSpPr/>
          <p:nvPr/>
        </p:nvSpPr>
        <p:spPr>
          <a:xfrm>
            <a:off x="13906500" y="13658850"/>
            <a:ext cx="247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573" dirty="0">
                <a:solidFill>
                  <a:srgbClr val="54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573" dirty="0"/>
          </a:p>
        </p:txBody>
      </p:sp>
      <p:sp>
        <p:nvSpPr>
          <p:cNvPr id="110" name="Text 72"/>
          <p:cNvSpPr/>
          <p:nvPr/>
        </p:nvSpPr>
        <p:spPr>
          <a:xfrm>
            <a:off x="18068925" y="12115800"/>
            <a:ext cx="3371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86"/>
              </a:lnSpc>
              <a:buNone/>
            </a:pPr>
            <a:r>
              <a:rPr lang="en-US" sz="3258" b="1" dirty="0">
                <a:solidFill>
                  <a:srgbClr val="505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Timeline</a:t>
            </a:r>
            <a:endParaRPr lang="en-US" sz="3258" dirty="0"/>
          </a:p>
        </p:txBody>
      </p:sp>
      <p:sp>
        <p:nvSpPr>
          <p:cNvPr id="111" name="Text 73"/>
          <p:cNvSpPr/>
          <p:nvPr/>
        </p:nvSpPr>
        <p:spPr>
          <a:xfrm>
            <a:off x="11572875" y="9201150"/>
            <a:ext cx="12858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808" dirty="0">
                <a:solidFill>
                  <a:srgbClr val="919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24-30</a:t>
            </a:r>
            <a:endParaRPr lang="en-US" sz="1808" dirty="0"/>
          </a:p>
        </p:txBody>
      </p:sp>
      <p:sp>
        <p:nvSpPr>
          <p:cNvPr id="112" name="Text 74"/>
          <p:cNvSpPr/>
          <p:nvPr/>
        </p:nvSpPr>
        <p:spPr>
          <a:xfrm>
            <a:off x="1762125" y="9124950"/>
            <a:ext cx="3676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153" dirty="0">
                <a:solidFill>
                  <a:srgbClr val="6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07: Analytics &amp; Admin</a:t>
            </a:r>
            <a:endParaRPr lang="en-US" sz="2153" dirty="0"/>
          </a:p>
        </p:txBody>
      </p:sp>
      <p:sp>
        <p:nvSpPr>
          <p:cNvPr id="113" name="Text 75"/>
          <p:cNvSpPr/>
          <p:nvPr/>
        </p:nvSpPr>
        <p:spPr>
          <a:xfrm>
            <a:off x="1762125" y="4143375"/>
            <a:ext cx="424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30" dirty="0">
                <a:solidFill>
                  <a:srgbClr val="6B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00: Foundation &amp; Gateway</a:t>
            </a:r>
            <a:endParaRPr lang="en-US" sz="2130" dirty="0"/>
          </a:p>
        </p:txBody>
      </p:sp>
      <p:sp>
        <p:nvSpPr>
          <p:cNvPr id="114" name="Text 76"/>
          <p:cNvSpPr/>
          <p:nvPr/>
        </p:nvSpPr>
        <p:spPr>
          <a:xfrm>
            <a:off x="1085850" y="2343150"/>
            <a:ext cx="86772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42"/>
              </a:lnSpc>
              <a:buNone/>
            </a:pPr>
            <a:r>
              <a:rPr lang="en-US" sz="3645" dirty="0">
                <a:solidFill>
                  <a:srgbClr val="70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Phases · 36 Hours · Zero Compromises</a:t>
            </a:r>
            <a:endParaRPr lang="en-US" sz="3645" dirty="0"/>
          </a:p>
        </p:txBody>
      </p:sp>
      <p:sp>
        <p:nvSpPr>
          <p:cNvPr id="115" name="Text 77"/>
          <p:cNvSpPr/>
          <p:nvPr/>
        </p:nvSpPr>
        <p:spPr>
          <a:xfrm>
            <a:off x="23755350" y="1971675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467" dirty="0">
                <a:solidFill>
                  <a:srgbClr val="444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2467" dirty="0"/>
          </a:p>
        </p:txBody>
      </p:sp>
      <p:sp>
        <p:nvSpPr>
          <p:cNvPr id="116" name="Text 78"/>
          <p:cNvSpPr/>
          <p:nvPr/>
        </p:nvSpPr>
        <p:spPr>
          <a:xfrm>
            <a:off x="23755350" y="1476375"/>
            <a:ext cx="14954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3413" b="1" dirty="0">
                <a:solidFill>
                  <a:srgbClr val="35B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3413" dirty="0"/>
          </a:p>
        </p:txBody>
      </p:sp>
      <p:sp>
        <p:nvSpPr>
          <p:cNvPr id="117" name="Text 79"/>
          <p:cNvSpPr/>
          <p:nvPr/>
        </p:nvSpPr>
        <p:spPr>
          <a:xfrm>
            <a:off x="23745825" y="1028700"/>
            <a:ext cx="147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753" b="1" dirty="0">
                <a:solidFill>
                  <a:srgbClr val="24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</a:t>
            </a:r>
            <a:endParaRPr lang="en-US" sz="2753" dirty="0"/>
          </a:p>
        </p:txBody>
      </p:sp>
      <p:sp>
        <p:nvSpPr>
          <p:cNvPr id="118" name="Text 80"/>
          <p:cNvSpPr/>
          <p:nvPr/>
        </p:nvSpPr>
        <p:spPr>
          <a:xfrm>
            <a:off x="1076325" y="1000125"/>
            <a:ext cx="119062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7845" b="1" dirty="0">
                <a:solidFill>
                  <a:srgbClr val="225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Path to Grand Finale</a:t>
            </a:r>
            <a:endParaRPr lang="en-US" sz="784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6822400" cy="1508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2026-09-06T08:15:32Z</dcterms:created>
  <dcterms:modified xsi:type="dcterms:W3CDTF">2026-09-06T08:15:32Z</dcterms:modified>
</cp:coreProperties>
</file>